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9fa003508274a2a" /><Relationship Type="http://schemas.openxmlformats.org/officeDocument/2006/relationships/extended-properties" Target="/docProps/app.xml" Id="Rc9dd56fafb3648cf" /><Relationship Type="http://schemas.openxmlformats.org/officeDocument/2006/relationships/officeDocument" Target="/ppt/presentation.xml" Id="Rbd89c5f2652d4e54" /></Relationships>
</file>

<file path=ppt/presentation.xml><?xml version="1.0" encoding="utf-8"?>
<p:presentation xmlns:p="http://schemas.openxmlformats.org/presentationml/2006/main">
  <p:sldMasterIdLst>
    <p:sldMasterId xmlns:r="http://schemas.openxmlformats.org/officeDocument/2006/relationships" id="2147483648" r:id="Rd65a41d11f4a462d"/>
  </p:sldMasterIdLst>
  <p:notesMasterIdLst>
    <p:notesMasterId xmlns:r="http://schemas.openxmlformats.org/officeDocument/2006/relationships" r:id="Rb75a361b3b0e417c"/>
  </p:notesMasterIdLst>
  <p:sldIdLst>
    <p:sldId xmlns:r="http://schemas.openxmlformats.org/officeDocument/2006/relationships" id="256" r:id="R0d75a5ae71c04a0f"/>
    <p:sldId xmlns:r="http://schemas.openxmlformats.org/officeDocument/2006/relationships" id="257" r:id="Rd7116b3e121140f3"/>
    <p:sldId xmlns:r="http://schemas.openxmlformats.org/officeDocument/2006/relationships" id="258" r:id="R319f6e4958ad4e60"/>
    <p:sldId xmlns:r="http://schemas.openxmlformats.org/officeDocument/2006/relationships" id="259" r:id="R4747b2ca82b947ab"/>
    <p:sldId xmlns:r="http://schemas.openxmlformats.org/officeDocument/2006/relationships" id="260" r:id="Rc3004bc7019b415f"/>
    <p:sldId xmlns:r="http://schemas.openxmlformats.org/officeDocument/2006/relationships" id="261" r:id="Redf4a31c1e4f4be2"/>
    <p:sldId xmlns:r="http://schemas.openxmlformats.org/officeDocument/2006/relationships" id="262" r:id="R17451ac878044bff"/>
    <p:sldId xmlns:r="http://schemas.openxmlformats.org/officeDocument/2006/relationships" id="263" r:id="R5591c7caea684094"/>
    <p:sldId xmlns:r="http://schemas.openxmlformats.org/officeDocument/2006/relationships" id="264" r:id="R7ef02f5930b14821"/>
    <p:sldId xmlns:r="http://schemas.openxmlformats.org/officeDocument/2006/relationships" id="265" r:id="R9e9f603942154c08"/>
    <p:sldId xmlns:r="http://schemas.openxmlformats.org/officeDocument/2006/relationships" id="266" r:id="R0287b6b1bb6a479b"/>
    <p:sldId xmlns:r="http://schemas.openxmlformats.org/officeDocument/2006/relationships" id="267" r:id="R8669c108a3884e6c"/>
    <p:sldId xmlns:r="http://schemas.openxmlformats.org/officeDocument/2006/relationships" id="268" r:id="R2c8ae5ce082c4a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c04a89f8284d7f" /><Relationship Type="http://schemas.openxmlformats.org/officeDocument/2006/relationships/slideMaster" Target="/ppt/slideMasters/slideMaster1.xml" Id="Rd65a41d11f4a462d" /><Relationship Type="http://schemas.openxmlformats.org/officeDocument/2006/relationships/notesMaster" Target="/ppt/notesMasters/notesMaster1.xml" Id="Rb75a361b3b0e417c" /><Relationship Type="http://schemas.openxmlformats.org/officeDocument/2006/relationships/presProps" Target="/ppt/presProps.xml" Id="R5e832ba246574f28" /><Relationship Type="http://schemas.openxmlformats.org/officeDocument/2006/relationships/tableStyles" Target="/ppt/tableStyles.xml" Id="Rc9f2c358ffe7478a" /><Relationship Type="http://schemas.openxmlformats.org/officeDocument/2006/relationships/slide" Target="/ppt/slides/slide1.xml" Id="R0d75a5ae71c04a0f" /><Relationship Type="http://schemas.openxmlformats.org/officeDocument/2006/relationships/slide" Target="/ppt/slides/slide2.xml" Id="Rd7116b3e121140f3" /><Relationship Type="http://schemas.openxmlformats.org/officeDocument/2006/relationships/slide" Target="/ppt/slides/slide3.xml" Id="R319f6e4958ad4e60" /><Relationship Type="http://schemas.openxmlformats.org/officeDocument/2006/relationships/slide" Target="/ppt/slides/slide4.xml" Id="R4747b2ca82b947ab" /><Relationship Type="http://schemas.openxmlformats.org/officeDocument/2006/relationships/slide" Target="/ppt/slides/slide5.xml" Id="Rc3004bc7019b415f" /><Relationship Type="http://schemas.openxmlformats.org/officeDocument/2006/relationships/slide" Target="/ppt/slides/slide6.xml" Id="Redf4a31c1e4f4be2" /><Relationship Type="http://schemas.openxmlformats.org/officeDocument/2006/relationships/slide" Target="/ppt/slides/slide7.xml" Id="R17451ac878044bff" /><Relationship Type="http://schemas.openxmlformats.org/officeDocument/2006/relationships/slide" Target="/ppt/slides/slide8.xml" Id="R5591c7caea684094" /><Relationship Type="http://schemas.openxmlformats.org/officeDocument/2006/relationships/slide" Target="/ppt/slides/slide9.xml" Id="R7ef02f5930b14821" /><Relationship Type="http://schemas.openxmlformats.org/officeDocument/2006/relationships/slide" Target="/ppt/slides/slide10.xml" Id="R9e9f603942154c08" /><Relationship Type="http://schemas.openxmlformats.org/officeDocument/2006/relationships/slide" Target="/ppt/slides/slide11.xml" Id="R0287b6b1bb6a479b" /><Relationship Type="http://schemas.openxmlformats.org/officeDocument/2006/relationships/slide" Target="/ppt/slides/slide12.xml" Id="R8669c108a3884e6c" /><Relationship Type="http://schemas.openxmlformats.org/officeDocument/2006/relationships/slide" Target="/ppt/slides/slide13.xml" Id="R2c8ae5ce082c4a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f48699a1e94f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cd2a7e83724572" /><Relationship Type="http://schemas.openxmlformats.org/officeDocument/2006/relationships/notesMaster" Target="/ppt/notesMasters/notesMaster1.xml" Id="R347bae20ef454f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9c1d22647648ab" /><Relationship Type="http://schemas.openxmlformats.org/officeDocument/2006/relationships/notesMaster" Target="/ppt/notesMasters/notesMaster1.xml" Id="Ra669d59988b849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f4ecba747a4c94" /><Relationship Type="http://schemas.openxmlformats.org/officeDocument/2006/relationships/notesMaster" Target="/ppt/notesMasters/notesMaster1.xml" Id="Rafbc6f0ce6f84d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bf968d32584981" /><Relationship Type="http://schemas.openxmlformats.org/officeDocument/2006/relationships/notesMaster" Target="/ppt/notesMasters/notesMaster1.xml" Id="R89616818057949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61dc22ca0241df" /><Relationship Type="http://schemas.openxmlformats.org/officeDocument/2006/relationships/notesMaster" Target="/ppt/notesMasters/notesMaster1.xml" Id="R0d64897658c84f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0d34200a82445a" /><Relationship Type="http://schemas.openxmlformats.org/officeDocument/2006/relationships/notesMaster" Target="/ppt/notesMasters/notesMaster1.xml" Id="R729f40276ffd46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df0f9974d143c6" /><Relationship Type="http://schemas.openxmlformats.org/officeDocument/2006/relationships/notesMaster" Target="/ppt/notesMasters/notesMaster1.xml" Id="Rbb0b8eeb0f9b42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52dd81cc634945" /><Relationship Type="http://schemas.openxmlformats.org/officeDocument/2006/relationships/notesMaster" Target="/ppt/notesMasters/notesMaster1.xml" Id="R6b6af717c9e04a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b15a61892a4e4a" /><Relationship Type="http://schemas.openxmlformats.org/officeDocument/2006/relationships/notesMaster" Target="/ppt/notesMasters/notesMaster1.xml" Id="R72dfe2b590c142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1ddf3cb89c4d5a" /><Relationship Type="http://schemas.openxmlformats.org/officeDocument/2006/relationships/notesMaster" Target="/ppt/notesMasters/notesMaster1.xml" Id="R1a3879b240d54c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1b014b3b204449" /><Relationship Type="http://schemas.openxmlformats.org/officeDocument/2006/relationships/notesMaster" Target="/ppt/notesMasters/notesMaster1.xml" Id="R5df3b32693f64f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54789ebf214449" /><Relationship Type="http://schemas.openxmlformats.org/officeDocument/2006/relationships/notesMaster" Target="/ppt/notesMasters/notesMaster1.xml" Id="R0af4c84111f34a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78d3d81d364217" /><Relationship Type="http://schemas.openxmlformats.org/officeDocument/2006/relationships/notesMaster" Target="/ppt/notesMasters/notesMaster1.xml" Id="R85727df9d67048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Jonaid Aydi und Kai S. Kurono. Richtzeit: 1:00.</a:t>
            </a:r>
          </a:p>
          <a:p xmlns:a="http://schemas.openxmlformats.org/drawingml/2006/main">
            <a:r>
              <a:t/>
            </a:r>
          </a:p>
          <a:p xmlns:a="http://schemas.openxmlformats.org/drawingml/2006/main">
            <a:r>
              <a:t>Wir untersuchen journalistische Artikel aus dem Reuters-Korpus. Unsere Frage ist, ob sich Texte von William Kazer, Tim Farrand und Patricia Commins anhand ihres Sprachgebrauchs unterscheiden lassen. Das Projekt verbindet eine Exploration mit Wortmerkmalen und einen ergänzenden Vergleich mit expliziten Stilmerkmalen. Wir zeigen zuerst die Daten und den Versuchsaufbau. Danach erklären wir die Entscheidungen der Modelle, vergleichen die Ergebnisse und betrachten konkrete Fehler. Der vollständige Projekttitel lautet: Automatische Autorschaftserkennung journalistischer Texte mittels stylometrischer Merkmale und klassischer Machine-Learning-Verfahren. Die Untersuchung gehört zum Kurs Advanced Python for NLP bei Rainer Osswald und Yulia Zinova. Alle Ergebnisse beziehen sich auf diese festgelegte Auswahl.</a:t>
            </a:r>
          </a:p>
          <a:p xmlns:a="http://schemas.openxmlformats.org/drawingml/2006/main">
            <a:r>
              <a:t/>
            </a:r>
          </a:p>
          <a:p xmlns:a="http://schemas.openxmlformats.org/drawingml/2006/main">
            <a:r>
              <a:t>Quellen: https://github.com/jonaidaydi/authorship-stylometry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Kai S. Kurono. Richtzeit: 0:50.</a:t>
            </a:r>
          </a:p>
          <a:p xmlns:a="http://schemas.openxmlformats.org/drawingml/2006/main">
            <a:r>
              <a:t/>
            </a:r>
          </a:p>
          <a:p xmlns:a="http://schemas.openxmlformats.org/drawingml/2006/main">
            <a:r>
              <a:t>Wortmerkmale und Stilmerkmale messen unterschiedliche Eigenschaften eines Textes. Wörter und Wortfolgen erfassen beispielsweise, welche Unternehmen oder Länder vorkommen. Stilmerkmale beschreiben unter anderem Satzlängen, Funktionswörter und Zeichensetzung. Beide können Autoren unterscheiden, aber Themen und Stil sind in einem journalistischen Korpus nicht sauber getrennt. Wir fragen deshalb, wie beide Repräsentationen auf denselben Dokumenten abschneiden. Es geht um eine Zuordnung zu drei bereits bekannten Autoren. Die PCA zeigt Ähnlichkeiten in zwei Dimensionen. Die eigentliche Vorhersage erfolgt im vollständigen Merkmalsraum. Diese Unterscheidung ist für die Interpretation der Abbildungen entscheidend.</a:t>
            </a:r>
          </a:p>
          <a:p xmlns:a="http://schemas.openxmlformats.org/drawingml/2006/main">
            <a:r>
              <a:t/>
            </a:r>
          </a:p>
          <a:p xmlns:a="http://schemas.openxmlformats.org/drawingml/2006/main">
            <a:r>
              <a:t>Quellen: https://github.com/jonaidaydi/authorship-stylometry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Kai S. Kurono. Richtzeit: 1:30.</a:t>
            </a:r>
          </a:p>
          <a:p xmlns:a="http://schemas.openxmlformats.org/drawingml/2006/main">
            <a:r>
              <a:t/>
            </a:r>
          </a:p>
          <a:p xmlns:a="http://schemas.openxmlformats.org/drawingml/2006/main">
            <a:r>
              <a:t>Reuter_50_50 enthält für jeden der fünfzig Autoren jeweils fünfzig Trainings- und fünfzig Testartikel. Wir verwenden drei Autoren, also insgesamt dreihundert Artikel. Je Autor halten wir die alphabetisch erste Trainingsdatei als Mystery-Text zurück. Die anderen neunundvierzig bilden die Referenz. So entsteht eine Referenzmenge von hundert siebenundvierzig Texten, eine Mystery-Menge von drei und ein offizieller Test von hundertfünfzig. Die Mystery-Texte werden für den größeren Test nicht wieder in die Referenz aufgenommen. Alle Verfahren haben damit dieselbe Informationsgrundlage. Auch Vokabular, Skalierung und PCA lernen ausschließlich aus der Referenzmenge. Die Dateinamen und Hashes im Repository machen diese Aufteilung nachvollziehbar. Ein Hashvergleich fand keine exakt identischen Texte zwischen Referenz und Auswertung. Ähnliche Meldungen sind damit aber nicht ausgeschlossen.</a:t>
            </a:r>
          </a:p>
          <a:p xmlns:a="http://schemas.openxmlformats.org/drawingml/2006/main">
            <a:r>
              <a:t/>
            </a:r>
          </a:p>
          <a:p xmlns:a="http://schemas.openxmlformats.org/drawingml/2006/main">
            <a:r>
              <a:t>Quellen: https://doi.org/10.24432/C5DS42 und results/document_manifest.csv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Kai S. Kurono. Richtzeit: 1:20.</a:t>
            </a:r>
          </a:p>
          <a:p xmlns:a="http://schemas.openxmlformats.org/drawingml/2006/main">
            <a:r>
              <a:t/>
            </a:r>
          </a:p>
          <a:p xmlns:a="http://schemas.openxmlformats.org/drawingml/2006/main">
            <a:r>
              <a:t>Der Wortansatz beginnt mit einer eigenen Tokenisierung und dem englischen Snowball-Stemmer aus NLTK. Der Vektorisierer berücksichtigt einzelne Wörter sowie Folgen aus zwei oder drei Tokens. Von den tausend ausgewählten Merkmalen sind achthundertzweiunddreißig Unigramme, hundert einundfünfzig Bigramme und siebzehn Trigramme. TF-IDF gewichtet Merkmale anhand ihrer Häufigkeit im Dokument und ihrer Verbreitung über die Referenztexte. Danach normiert das Verfahren jeden Vektor auf Länge eins. Der nächste Nachbar ist der Referenzartikel mit dem kleinsten euklidischen Abstand. Dessen Autor wird vorhergesagt. Die häufigsten Merkmale der Autorenprofile enthalten China, Millionenbeträge und Unternehmensnamen. Das ist für die Zuordnung hilfreich, macht aber zugleich die Themenabhängigkeit sichtbar. Die ursprüngliche Kombination aus Stemming und englischer Stoppwortliste erzeugt einen dokumentierten Hinweis. Wir haben sie für diesen Vergleich beibehalten.</a:t>
            </a:r>
          </a:p>
          <a:p xmlns:a="http://schemas.openxmlformats.org/drawingml/2006/main">
            <a:r>
              <a:t/>
            </a:r>
          </a:p>
          <a:p xmlns:a="http://schemas.openxmlformats.org/drawingml/2006/main">
            <a:r>
              <a:t>Quellen: https://www.nltk.org/api/nltk.stem.snowball.html und results/tfidf_author_profiles.csv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Jonaid Aydi. Richtzeit: 1:30.</a:t>
            </a:r>
          </a:p>
          <a:p xmlns:a="http://schemas.openxmlformats.org/drawingml/2006/main">
            <a:r>
              <a:t/>
            </a:r>
          </a:p>
          <a:p xmlns:a="http://schemas.openxmlformats.org/drawingml/2006/main">
            <a:r>
              <a:t>Der ergänzende Ansatz verwendet sechsundzwanzig vorab festgelegte Merkmale. Fünf beschreiben die Textoberfläche, beispielsweise mittlere Satzlänge, Wortlänge und Type-Token-Ratio. Dazu kommen fünfzehn Funktionswörter und sechs Satzzeichen. Die Häufigkeiten beziehen sich auf tausend alphabetische Wörter. spaCy liefert die Tokenisierung und die Satzgrenzen. Da die Merkmale verschiedene Einheiten haben, standardisieren wir sie mit Mittelwert und Standardabweichung der Referenztexte. Der Test beeinflusst diese Werte nicht. Ein Merkmal, die Häufigkeit von Ausrufezeichen, ist in der Referenz konstant und entfällt. Übrig bleiben fünfundzwanzig Dimensionen. Relative Häufigkeiten lösen nicht jedes Längenproblem. Insbesondere die Type-Token-Ratio hängt weiterhin von der Textlänge ab. POS-N-Gramme gehören nicht zum untersuchten Merkmalsumfang.</a:t>
            </a:r>
          </a:p>
          <a:p xmlns:a="http://schemas.openxmlformats.org/drawingml/2006/main">
            <a:r>
              <a:t/>
            </a:r>
          </a:p>
          <a:p xmlns:a="http://schemas.openxmlformats.org/drawingml/2006/main">
            <a:r>
              <a:t>Quellen: stylometry/features.py und results/standardisation.json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Jonaid Aydi. Richtzeit: 1:10.</a:t>
            </a:r>
          </a:p>
          <a:p xmlns:a="http://schemas.openxmlformats.org/drawingml/2006/main">
            <a:r>
              <a:t/>
            </a:r>
          </a:p>
          <a:p xmlns:a="http://schemas.openxmlformats.org/drawingml/2006/main">
            <a:r>
              <a:t>Im ersten Stilverfahren bleibt die Entscheidungsregel dieselbe wie bei TF-IDF. Wir wählen den nächstgelegenen einzelnen Referenztext. Damit verändert sich vor allem die Repräsentation. Im zweiten Stilverfahren berechnen wir für jeden Autor den Mittelwert seiner standardisierten Referenzvektoren. Dieser Mittelwert ist das Autorenzentrum. Ein neuer Artikel bekommt das Label des nächstgelegenen Zentrums. Mittelwerte können Schwankungen einzelner Artikel ausgleichen. Sie können aber auch Besonderheiten eines Artikels verdecken. Beide Regeln bestehen aus überschaubaren NumPy-Operationen. Die PCA-Koordinaten gehen hier nicht ein. Auch beim Stilansatz berechnen wir die Abstände in allen fünfundzwanzig Dimensionen. Einen allgemeinen Vorteil von Autorenzentren können wir aus einem einzigen Vergleich noch nicht ableiten.</a:t>
            </a:r>
          </a:p>
          <a:p xmlns:a="http://schemas.openxmlformats.org/drawingml/2006/main">
            <a:r>
              <a:t/>
            </a:r>
          </a:p>
          <a:p xmlns:a="http://schemas.openxmlformats.org/drawingml/2006/main">
            <a:r>
              <a:t>Quellen: stylometry/models.py und run_analysis.py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Kai S. Kurono. Richtzeit: 1:30.</a:t>
            </a:r>
          </a:p>
          <a:p xmlns:a="http://schemas.openxmlformats.org/drawingml/2006/main">
            <a:r>
              <a:t/>
            </a:r>
          </a:p>
          <a:p xmlns:a="http://schemas.openxmlformats.org/drawingml/2006/main">
            <a:r>
              <a:t>Die Abbildungen verwenden dieselben hundert siebenundvierzig Referenzartikel. Die drei Mystery-Texte sind durch größere Punkte markiert. Links sehen wir die TF-IDF-Repräsentation, rechts die Stilmerkmale. Die ersten beiden Komponenten zeigen zusammen rund elf Komma fünf acht Prozent der Wortvarianz und zwanzig Komma neun vier Prozent der Stilvarianz. Damit liegt der größte Teil der Variation außerhalb der Darstellung. Ein größerer dargestellter Anteil im Stilraum bedeutet auch nicht automatisch bessere Klassifikation. Die beiden Repräsentationen haben unterschiedliche Dimensionen und Varianzstrukturen. Wir verwenden die PCA, um Ähnlichkeiten und Überlappungen sichtbar zu machen. Die Vorhersagen werden weiterhin im vollständigen Raum berechnet. Die Reuters-HCA arbeitet ebenfalls auf vollständigen TF-IDF-Vektoren und erhält kondensierte euklidische Distanzen für Ward.</a:t>
            </a:r>
          </a:p>
          <a:p xmlns:a="http://schemas.openxmlformats.org/drawingml/2006/main">
            <a:r>
              <a:t/>
            </a:r>
          </a:p>
          <a:p xmlns:a="http://schemas.openxmlformats.org/drawingml/2006/main">
            <a:r>
              <a:t>Quellen: results/tfidf_pca_coordinates.csv und results/style_pca_coordinates.csv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Jonaid Aydi. Richtzeit: 1:10.</a:t>
            </a:r>
          </a:p>
          <a:p xmlns:a="http://schemas.openxmlformats.org/drawingml/2006/main">
            <a:r>
              <a:t/>
            </a:r>
          </a:p>
          <a:p xmlns:a="http://schemas.openxmlformats.org/drawingml/2006/main">
            <a:r>
              <a:t>Die größere Auswertung ist die Grundlage unserer Leistungsaussage. TF-IDF ordnet hundert siebenunddreißig von hundertfünfzig Texten richtig zu. Das entspricht einundneunzig Komma drei drei Prozent. Der Stilansatz mit einzelnen Nachbarn erreicht hundertvier richtige Texte, also neunundsechzig Komma drei drei Prozent. Die Autorenzentren verbessern den Stilansatz auf hundertvierundzwanzig richtige Texte beziehungsweise zweiundachtzig Komma sechs sieben Prozent. Zum Vergleich: Weil jede Klasse fünfzig Artikel enthält, kommt eine konstante Vorhersage eines Autors auf dreiunddreißig Komma drei drei Prozent. Alle drei Verfahren liegen darüber. Die Macro-F1-Werte berücksichtigen die drei Autoren gleichgewichtet und bestätigen die Rangfolge. Wir berichten alle vorher festgelegten Modelle. Wir haben keine Parameter anhand dieser Testergebnisse optimiert.</a:t>
            </a:r>
          </a:p>
          <a:p xmlns:a="http://schemas.openxmlformats.org/drawingml/2006/main">
            <a:r>
              <a:t/>
            </a:r>
          </a:p>
          <a:p xmlns:a="http://schemas.openxmlformats.org/drawingml/2006/main">
            <a:r>
              <a:t>Quellen: results/model_comparison.csv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Jonaid Aydi. Richtzeit: 1:20.</a:t>
            </a:r>
          </a:p>
          <a:p xmlns:a="http://schemas.openxmlformats.org/drawingml/2006/main">
            <a:r>
              <a:t/>
            </a:r>
          </a:p>
          <a:p xmlns:a="http://schemas.openxmlformats.org/drawingml/2006/main">
            <a:r>
              <a:t>Die Konfusionsmatrix zeigt, welche Autoren verwechselt werden. Die Zeilen enthalten die wahren Autoren und die Spalten die Vorhersagen. Die Diagonale zählt richtige Zuordnungen. Von Kazers fünfzig Artikeln werden vierzig richtig erkannt, acht Farrand und zwei Commins zugeordnet. Bei Farrand sind neununddreißig richtig und elf gehen an Kazer. Bei Commins sind fünfundvierzig richtig. Die Recall-Werte betragen damit achtzig, achtundsiebzig und neunzig Prozent. Die meisten Verwechslungen liegen zwischen Kazer und Farrand. Der TF-IDF-Ansatz hat ein anderes Fehlermuster: Zehn seiner dreizehn Fehler ordnen Commins-Artikel Farrand zu. Eine einzige Gesamtquote verdeckt solche Unterschiede. Als Nächstes schauen wir deshalb auf konkrete Dokumente.</a:t>
            </a:r>
          </a:p>
          <a:p xmlns:a="http://schemas.openxmlformats.org/drawingml/2006/main">
            <a:r>
              <a:t/>
            </a:r>
          </a:p>
          <a:p xmlns:a="http://schemas.openxmlformats.org/drawingml/2006/main">
            <a:r>
              <a:t>Quellen: results/official_test_style_centroid_confusion.csv und results/official_test_tfidf_1nn_confusion.csv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Jonaid Aydi. Richtzeit: 1:20.</a:t>
            </a:r>
          </a:p>
          <a:p xmlns:a="http://schemas.openxmlformats.org/drawingml/2006/main">
            <a:r>
              <a:t/>
            </a:r>
          </a:p>
          <a:p xmlns:a="http://schemas.openxmlformats.org/drawingml/2006/main">
            <a:r>
              <a:t>Die Fälle stammen alle von Patricia Commins. Wir haben innerhalb dreier Ergebniskategorien jeweils den ersten sortierten Dateipfad gewählt. Das ist eine nachträgliche Illustration und keine repräsentative Stichprobe. Im ersten Fall berichtet Commins über Ladenschließungen bei Dayton Hudson. TF-IDF findet einen Farrand-Artikel über Burton, weil Wörter wie store und retail beiden Texten gemeinsam sind. Beide Stilmodelle liegen richtig. Im zweiten Fall geht es um Quaker und Snapple. Ein thematisch eng verwandter Commins-Artikel macht die lexikalische Zuordnung richtig. Das Stilzentrum entscheidet sich dagegen knapp für Kazer. Im dritten Fall geht es um Maisverarbeitung. Alle Modelle sagen Farrand voraus. Ein seltenes Satzzeichenmerkmal trägt besonders stark zum falschen Stilentscheid bei. Diese Fälle zeigen, dass Themenähnlichkeit sowohl richtige als auch falsche Wortentscheidungen unterstützen kann.</a:t>
            </a:r>
          </a:p>
          <a:p xmlns:a="http://schemas.openxmlformats.org/drawingml/2006/main">
            <a:r>
              <a:t/>
            </a:r>
          </a:p>
          <a:p xmlns:a="http://schemas.openxmlformats.org/drawingml/2006/main">
            <a:r>
              <a:t>Quellen: results/qualitative_cases.json und results/README.md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Kai S. Kurono. Richtzeit: 1:10.</a:t>
            </a:r>
          </a:p>
          <a:p xmlns:a="http://schemas.openxmlformats.org/drawingml/2006/main">
            <a:r>
              <a:t/>
            </a:r>
          </a:p>
          <a:p xmlns:a="http://schemas.openxmlformats.org/drawingml/2006/main">
            <a:r>
              <a:t>Die Umsetzung bleibt bewusst überschaubar. prepare_data lädt und filtert den Korpus. run_analysis führt den vollständigen Reuters-Vergleich aus. Kleine Module trennen das Laden der Texte, die Merkmalsextraktion und die Distanzberechnung. CSV-Dateien enthalten die Merkmale und Vorhersagen. JSON-Dateien dokumentieren Parameter, Versionen und Hashes. Damit lassen sich Bericht und Berechnung zusammen prüfen. Der Kursbezug liegt unter anderem in Funktionen mit Docstrings, Dictionaries, virtuellen Umgebungen, NLTK, spaCy, pandas und NumPy. Die neue Installation reproduziert die früheren Vorhersagen vollständig. Fünf gezielte Funktionstests und alle drei Notebooks laufen durch. Die Federalist-Beispiele nutzen jetzt denselben bereinigten Textbestand. Ihre Kategorien unterscheiden eindeutige, umstrittene und gemeinsame Autorschaft. Sie dienen als historisches Zusatzbeispiel.</a:t>
            </a:r>
          </a:p>
          <a:p xmlns:a="http://schemas.openxmlformats.org/drawingml/2006/main">
            <a:r>
              <a:t/>
            </a:r>
          </a:p>
          <a:p xmlns:a="http://schemas.openxmlformats.org/drawingml/2006/main">
            <a:r>
              <a:t>Quellen: README_de.md und 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Jonaid Aydi und Kai S. Kurono. Richtzeit: 1:10.</a:t>
            </a:r>
          </a:p>
          <a:p xmlns:a="http://schemas.openxmlformats.org/drawingml/2006/main">
            <a:r>
              <a:t/>
            </a:r>
          </a:p>
          <a:p xmlns:a="http://schemas.openxmlformats.org/drawingml/2006/main">
            <a:r>
              <a:t>Unsere Untersuchung zeigt, dass beide Repräsentationen für diese drei Reuters-Autoren nützliche Informationen enthalten. TF-IDF erzielt das beste Testergebnis. Autorenzentren verbessern den Stilansatz gegenüber einzelnen Nachbarn. Daraus folgt keine allgemeine Erkennung eines reinen persönlichen Stils. Themenunterschiede, verwandte Meldungen, redaktionelle Vorgaben und Texteigenschaften bleiben mögliche Einflüsse. Eine sinnvolle Fortsetzung wäre eine neue Autorenauswahl oder eine Auswertung mit kontrollierten Themen. Kai verantwortet die Wortrepräsentationen und die Exploration mit PCA, Clustering und Mystery-Zuordnung. Jonaid verantwortet den ergänzenden Stilvergleich, die Testauswertung und die Integration für reproduzierbare Läufe. Codex unterstützte die Integration, Prüfung und Vorbereitung der Unterlagen. Wir beide verantworten die Abgabe und ihre Erklärung. Damit öffnen wir die Diskussion.</a:t>
            </a:r>
          </a:p>
          <a:p xmlns:a="http://schemas.openxmlformats.org/drawingml/2006/main">
            <a:r>
              <a:t/>
            </a:r>
          </a:p>
          <a:p xmlns:a="http://schemas.openxmlformats.org/drawingml/2006/main">
            <a:r>
              <a:t>Quellen: https://github.com/jonaidaydi/authorship-stylometry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Beide. Richtzeit: Anhang.</a:t>
            </a:r>
          </a:p>
          <a:p xmlns:a="http://schemas.openxmlformats.org/drawingml/2006/main">
            <a:r>
              <a:t/>
            </a:r>
          </a:p>
          <a:p xmlns:a="http://schemas.openxmlformats.org/drawingml/2006/main">
            <a:r>
              <a:t>Diese Folie dient als Anhang für die Diskussion. Die Datenquelle ist Reuter_50_50 von UCI. Die wichtigsten Implementierungsquellen sind die offiziellen Dokumentationen der verwendeten Bibliotheken. Das Repository enthält die Berichte, die vollständigen Ergebnistabellen und die genaue Datenaufteilung. Die Folien 1 bis 12 sind für insgesamt etwa fünfzehn Minuten vorgesehen. Anschließend sind ungefähr zehn Minuten Diskussion eingeplant.</a:t>
            </a:r>
          </a:p>
          <a:p xmlns:a="http://schemas.openxmlformats.org/drawingml/2006/main">
            <a:r>
              <a:t/>
            </a:r>
          </a:p>
          <a:p xmlns:a="http://schemas.openxmlformats.org/drawingml/2006/main">
            <a:r>
              <a:t>Quellen: https://github.com/jonaidaydi/authorship-stylometry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a44090cd4f41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b32dba39a64134" /><Relationship Type="http://schemas.openxmlformats.org/officeDocument/2006/relationships/slideLayout" Target="/ppt/slideLayouts/slideLayout1.xml" Id="Rcca3523259ff47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a3523259ff47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faf1cd9e4f404e" /><Relationship Type="http://schemas.openxmlformats.org/officeDocument/2006/relationships/notesSlide" Target="/ppt/notesSlides/notesSlide1.xml" Id="Rf40298f13d8948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a542ab5c024174" /><Relationship Type="http://schemas.openxmlformats.org/officeDocument/2006/relationships/notesSlide" Target="/ppt/notesSlides/notesSlide2.xml" Id="R81421a12d3c641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a6380123674c6c" /><Relationship Type="http://schemas.openxmlformats.org/officeDocument/2006/relationships/notesSlide" Target="/ppt/notesSlides/notesSlide3.xml" Id="Rc8f7958e23c949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21bb9b353a4602" /><Relationship Type="http://schemas.openxmlformats.org/officeDocument/2006/relationships/notesSlide" Target="/ppt/notesSlides/notesSlide4.xml" Id="R931b7048f51d48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84391b122e4f87" /><Relationship Type="http://schemas.openxmlformats.org/officeDocument/2006/relationships/notesSlide" Target="/ppt/notesSlides/notesSlide5.xml" Id="R212c9b2e528e4e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a74499301d48ef" /><Relationship Type="http://schemas.openxmlformats.org/officeDocument/2006/relationships/notesSlide" Target="/ppt/notesSlides/notesSlide6.xml" Id="Rcb2d8f590e7c4a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0f52ae3a994cf7" /><Relationship Type="http://schemas.openxmlformats.org/officeDocument/2006/relationships/chart" Target="/ppt/slides/charts/chart1.xml" Id="R7e4e4e7382df4b2f" /><Relationship Type="http://schemas.openxmlformats.org/officeDocument/2006/relationships/chart" Target="/ppt/slides/charts/chart2.xml" Id="Rb97c0403727d479c" /><Relationship Type="http://schemas.openxmlformats.org/officeDocument/2006/relationships/notesSlide" Target="/ppt/notesSlides/notesSlide7.xml" Id="R384fed28d3b540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7928819c314639" /><Relationship Type="http://schemas.openxmlformats.org/officeDocument/2006/relationships/chart" Target="/ppt/slides/charts/chart3.xml" Id="R7a5f7ead1c044bb4" /><Relationship Type="http://schemas.openxmlformats.org/officeDocument/2006/relationships/notesSlide" Target="/ppt/notesSlides/notesSlide8.xml" Id="R3690a7fc819841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0a45c1fa7c74cc3" /><Relationship Type="http://schemas.openxmlformats.org/officeDocument/2006/relationships/notesSlide" Target="/ppt/notesSlides/notesSlide9.xml" Id="R898865be684e41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f21fbcd6774623" /><Relationship Type="http://schemas.openxmlformats.org/officeDocument/2006/relationships/notesSlide" Target="/ppt/notesSlides/notesSlide10.xml" Id="R2ebb5cd451b446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7c3ec404c344dc" /><Relationship Type="http://schemas.openxmlformats.org/officeDocument/2006/relationships/notesSlide" Target="/ppt/notesSlides/notesSlide11.xml" Id="Rc6a1110df5ea48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a7cbea24b14b22" /><Relationship Type="http://schemas.openxmlformats.org/officeDocument/2006/relationships/notesSlide" Target="/ppt/notesSlides/notesSlide12.xml" Id="R57f097af8fed4f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33bd5ead384f1d" /><Relationship Type="http://schemas.openxmlformats.org/officeDocument/2006/relationships/notesSlide" Target="/ppt/notesSlides/notesSlide13.xml" Id="Rbbc6d6a154d9499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latin typeface="Arial"/>
                <a:ea typeface="Arial"/>
                <a:cs typeface="Arial"/>
              </a:rPr>
              <a:t>TF-IDF</a:t>
            </a:r>
          </a:p>
        </c:rich>
      </c:tx>
      <c:overlay val="0"/>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title>
    <c:plotArea>
      <c:scatterChart>
        <c:scatterStyle val="marker"/>
        <c:ser>
          <c:idx val="0"/>
          <c:order val="0"/>
          <c:tx>
            <c:v>Kazer</c:v>
          </c:tx>
          <c:spPr>
            <a:solidFill xmlns:a="http://schemas.openxmlformats.org/drawingml/2006/main">
              <a:srgbClr val="C12C89"/>
            </a:solidFill>
            <a:ln xmlns:a="http://schemas.openxmlformats.org/drawingml/2006/main" w="0">
              <a:noFill/>
            </a:ln>
          </c:spPr>
          <c:marker>
            <c:symbol val="circle"/>
            <c:size val="5"/>
            <c:spPr>
              <a:noFill xmlns:a="http://schemas.openxmlformats.org/drawingml/2006/main"/>
            </c:spPr>
          </c:marker>
          <c:xVal>
            <c:numRef>
              <c:f>'Chart Data'!$A$2:$A$50</c:f>
              <c:numCache>
                <c:formatCode>General</c:formatCode>
                <c:ptCount val="49"/>
                <c:pt idx="0">
                  <c:v>0.252615</c:v>
                </c:pt>
                <c:pt idx="1">
                  <c:v>0.162958</c:v>
                </c:pt>
                <c:pt idx="2">
                  <c:v>0.194637</c:v>
                </c:pt>
                <c:pt idx="3">
                  <c:v>0.226489</c:v>
                </c:pt>
                <c:pt idx="4">
                  <c:v>0.17671</c:v>
                </c:pt>
                <c:pt idx="5">
                  <c:v>0.213308</c:v>
                </c:pt>
                <c:pt idx="6">
                  <c:v>0.173127</c:v>
                </c:pt>
                <c:pt idx="7">
                  <c:v>0.24051</c:v>
                </c:pt>
                <c:pt idx="8">
                  <c:v>0.188496</c:v>
                </c:pt>
                <c:pt idx="9">
                  <c:v>0.188647</c:v>
                </c:pt>
                <c:pt idx="10">
                  <c:v>0.092401</c:v>
                </c:pt>
                <c:pt idx="11">
                  <c:v>0.274713</c:v>
                </c:pt>
                <c:pt idx="12">
                  <c:v>0.169755</c:v>
                </c:pt>
                <c:pt idx="13">
                  <c:v>0.205507</c:v>
                </c:pt>
                <c:pt idx="14">
                  <c:v>0.097969</c:v>
                </c:pt>
                <c:pt idx="15">
                  <c:v>0.018048</c:v>
                </c:pt>
                <c:pt idx="16">
                  <c:v>0.225526</c:v>
                </c:pt>
                <c:pt idx="17">
                  <c:v>0.098777</c:v>
                </c:pt>
                <c:pt idx="18">
                  <c:v>0.215765</c:v>
                </c:pt>
                <c:pt idx="19">
                  <c:v>0.369845</c:v>
                </c:pt>
                <c:pt idx="20">
                  <c:v>0.444683</c:v>
                </c:pt>
                <c:pt idx="21">
                  <c:v>0.441506</c:v>
                </c:pt>
                <c:pt idx="22">
                  <c:v>0.299804</c:v>
                </c:pt>
                <c:pt idx="23">
                  <c:v>0.390471</c:v>
                </c:pt>
                <c:pt idx="24">
                  <c:v>0.421538</c:v>
                </c:pt>
                <c:pt idx="25">
                  <c:v>0.263574</c:v>
                </c:pt>
                <c:pt idx="26">
                  <c:v>0.399628</c:v>
                </c:pt>
                <c:pt idx="27">
                  <c:v>0.354011</c:v>
                </c:pt>
                <c:pt idx="28">
                  <c:v>0.325713</c:v>
                </c:pt>
                <c:pt idx="29">
                  <c:v>0.207449</c:v>
                </c:pt>
                <c:pt idx="30">
                  <c:v>0.257122</c:v>
                </c:pt>
                <c:pt idx="31">
                  <c:v>0.403032</c:v>
                </c:pt>
                <c:pt idx="32">
                  <c:v>0.289964</c:v>
                </c:pt>
                <c:pt idx="33">
                  <c:v>0.133713</c:v>
                </c:pt>
                <c:pt idx="34">
                  <c:v>0.293023</c:v>
                </c:pt>
                <c:pt idx="35">
                  <c:v>0.327242</c:v>
                </c:pt>
                <c:pt idx="36">
                  <c:v>0.312005</c:v>
                </c:pt>
                <c:pt idx="37">
                  <c:v>0.127655</c:v>
                </c:pt>
                <c:pt idx="38">
                  <c:v>0.386469</c:v>
                </c:pt>
                <c:pt idx="39">
                  <c:v>0.059756</c:v>
                </c:pt>
                <c:pt idx="40">
                  <c:v>-0.020202</c:v>
                </c:pt>
                <c:pt idx="41">
                  <c:v>0.31522</c:v>
                </c:pt>
                <c:pt idx="42">
                  <c:v>0.19587</c:v>
                </c:pt>
                <c:pt idx="43">
                  <c:v>0.359751</c:v>
                </c:pt>
                <c:pt idx="44">
                  <c:v>0.134288</c:v>
                </c:pt>
                <c:pt idx="45">
                  <c:v>0.238431</c:v>
                </c:pt>
                <c:pt idx="46">
                  <c:v>0.230337</c:v>
                </c:pt>
                <c:pt idx="47">
                  <c:v>0.219847</c:v>
                </c:pt>
                <c:pt idx="48">
                  <c:v>0.207881</c:v>
                </c:pt>
              </c:numCache>
            </c:numRef>
          </c:xVal>
          <c:yVal>
            <c:numRef>
              <c:f>'Chart Data'!$B$2:$B$50</c:f>
              <c:numCache>
                <c:formatCode>0.0</c:formatCode>
                <c:ptCount val="49"/>
                <c:pt idx="0">
                  <c:v>-0.106108</c:v>
                </c:pt>
                <c:pt idx="1">
                  <c:v>-0.0781</c:v>
                </c:pt>
                <c:pt idx="2">
                  <c:v>-0.114331</c:v>
                </c:pt>
                <c:pt idx="3">
                  <c:v>-0.13067</c:v>
                </c:pt>
                <c:pt idx="4">
                  <c:v>-0.12273</c:v>
                </c:pt>
                <c:pt idx="5">
                  <c:v>-0.13748</c:v>
                </c:pt>
                <c:pt idx="6">
                  <c:v>-0.107074</c:v>
                </c:pt>
                <c:pt idx="7">
                  <c:v>-0.152837</c:v>
                </c:pt>
                <c:pt idx="8">
                  <c:v>-0.143718</c:v>
                </c:pt>
                <c:pt idx="9">
                  <c:v>-0.149141</c:v>
                </c:pt>
                <c:pt idx="10">
                  <c:v>-0.06772</c:v>
                </c:pt>
                <c:pt idx="11">
                  <c:v>-0.150323</c:v>
                </c:pt>
                <c:pt idx="12">
                  <c:v>-0.107711</c:v>
                </c:pt>
                <c:pt idx="13">
                  <c:v>-0.083519</c:v>
                </c:pt>
                <c:pt idx="14">
                  <c:v>-0.055367</c:v>
                </c:pt>
                <c:pt idx="15">
                  <c:v>-0.086765</c:v>
                </c:pt>
                <c:pt idx="16">
                  <c:v>-0.166053</c:v>
                </c:pt>
                <c:pt idx="17">
                  <c:v>-0.07377</c:v>
                </c:pt>
                <c:pt idx="18">
                  <c:v>-0.048126</c:v>
                </c:pt>
                <c:pt idx="19">
                  <c:v>-0.230913</c:v>
                </c:pt>
                <c:pt idx="20">
                  <c:v>-0.287117</c:v>
                </c:pt>
                <c:pt idx="21">
                  <c:v>-0.284868</c:v>
                </c:pt>
                <c:pt idx="22">
                  <c:v>-0.177929</c:v>
                </c:pt>
                <c:pt idx="23">
                  <c:v>-0.269325</c:v>
                </c:pt>
                <c:pt idx="24">
                  <c:v>-0.263481</c:v>
                </c:pt>
                <c:pt idx="25">
                  <c:v>-0.118972</c:v>
                </c:pt>
                <c:pt idx="26">
                  <c:v>-0.232112</c:v>
                </c:pt>
                <c:pt idx="27">
                  <c:v>-0.249832</c:v>
                </c:pt>
                <c:pt idx="28">
                  <c:v>-0.177051</c:v>
                </c:pt>
                <c:pt idx="29">
                  <c:v>-0.183763</c:v>
                </c:pt>
                <c:pt idx="30">
                  <c:v>-0.140611</c:v>
                </c:pt>
                <c:pt idx="31">
                  <c:v>-0.24222</c:v>
                </c:pt>
                <c:pt idx="32">
                  <c:v>-0.165345</c:v>
                </c:pt>
                <c:pt idx="33">
                  <c:v>-0.102657</c:v>
                </c:pt>
                <c:pt idx="34">
                  <c:v>-0.175448</c:v>
                </c:pt>
                <c:pt idx="35">
                  <c:v>-0.194129</c:v>
                </c:pt>
                <c:pt idx="36">
                  <c:v>-0.187648</c:v>
                </c:pt>
                <c:pt idx="37">
                  <c:v>-0.100397</c:v>
                </c:pt>
                <c:pt idx="38">
                  <c:v>-0.234104</c:v>
                </c:pt>
                <c:pt idx="39">
                  <c:v>-0.066269</c:v>
                </c:pt>
                <c:pt idx="40">
                  <c:v>-0.107251</c:v>
                </c:pt>
                <c:pt idx="41">
                  <c:v>-0.186163</c:v>
                </c:pt>
                <c:pt idx="42">
                  <c:v>-0.093272</c:v>
                </c:pt>
                <c:pt idx="43">
                  <c:v>-0.240315</c:v>
                </c:pt>
                <c:pt idx="44">
                  <c:v>-0.1332</c:v>
                </c:pt>
                <c:pt idx="45">
                  <c:v>-0.136478</c:v>
                </c:pt>
                <c:pt idx="46">
                  <c:v>-0.1137</c:v>
                </c:pt>
                <c:pt idx="47">
                  <c:v>-0.195373</c:v>
                </c:pt>
                <c:pt idx="48">
                  <c:v>-0.111148</c:v>
                </c:pt>
              </c:numCache>
            </c:numRef>
          </c:yVal>
        </c:ser>
        <c:ser>
          <c:idx val="1"/>
          <c:order val="1"/>
          <c:tx>
            <c:v>Kazer Mystery</c:v>
          </c:tx>
          <c:spPr>
            <a:solidFill xmlns:a="http://schemas.openxmlformats.org/drawingml/2006/main">
              <a:srgbClr val="C12C89"/>
            </a:solidFill>
            <a:ln xmlns:a="http://schemas.openxmlformats.org/drawingml/2006/main" w="0">
              <a:noFill/>
            </a:ln>
          </c:spPr>
          <c:marker>
            <c:symbol val="circle"/>
            <c:size val="12"/>
            <c:spPr>
              <a:noFill xmlns:a="http://schemas.openxmlformats.org/drawingml/2006/main"/>
            </c:spPr>
          </c:marker>
          <c:xVal>
            <c:numRef>
              <c:f>'Chart Data'!$C$2:$C$2</c:f>
              <c:numCache>
                <c:formatCode>General</c:formatCode>
                <c:ptCount val="1"/>
                <c:pt idx="0">
                  <c:v>0.091733</c:v>
                </c:pt>
              </c:numCache>
            </c:numRef>
          </c:xVal>
          <c:yVal>
            <c:numRef>
              <c:f>'Chart Data'!$D$2:$D$2</c:f>
              <c:numCache>
                <c:formatCode>0.0</c:formatCode>
                <c:ptCount val="1"/>
                <c:pt idx="0">
                  <c:v>-0.039916</c:v>
                </c:pt>
              </c:numCache>
            </c:numRef>
          </c:yVal>
        </c:ser>
        <c:ser>
          <c:idx val="2"/>
          <c:order val="2"/>
          <c:tx>
            <c:v>Farrand</c:v>
          </c:tx>
          <c:spPr>
            <a:solidFill xmlns:a="http://schemas.openxmlformats.org/drawingml/2006/main">
              <a:srgbClr val="DD9300"/>
            </a:solidFill>
            <a:ln xmlns:a="http://schemas.openxmlformats.org/drawingml/2006/main" w="0">
              <a:noFill/>
            </a:ln>
          </c:spPr>
          <c:marker>
            <c:symbol val="circle"/>
            <c:size val="5"/>
            <c:spPr>
              <a:noFill xmlns:a="http://schemas.openxmlformats.org/drawingml/2006/main"/>
            </c:spPr>
          </c:marker>
          <c:xVal>
            <c:numRef>
              <c:f>'Chart Data'!$E$2:$E$50</c:f>
              <c:numCache>
                <c:formatCode>General</c:formatCode>
                <c:ptCount val="49"/>
                <c:pt idx="0">
                  <c:v>-0.351472</c:v>
                </c:pt>
                <c:pt idx="1">
                  <c:v>-0.096996</c:v>
                </c:pt>
                <c:pt idx="2">
                  <c:v>-0.200023</c:v>
                </c:pt>
                <c:pt idx="3">
                  <c:v>-0.186733</c:v>
                </c:pt>
                <c:pt idx="4">
                  <c:v>-0.196761</c:v>
                </c:pt>
                <c:pt idx="5">
                  <c:v>-0.246181</c:v>
                </c:pt>
                <c:pt idx="6">
                  <c:v>-0.27885</c:v>
                </c:pt>
                <c:pt idx="7">
                  <c:v>-0.10423</c:v>
                </c:pt>
                <c:pt idx="8">
                  <c:v>-0.320078</c:v>
                </c:pt>
                <c:pt idx="9">
                  <c:v>-0.316792</c:v>
                </c:pt>
                <c:pt idx="10">
                  <c:v>-0.29721</c:v>
                </c:pt>
                <c:pt idx="11">
                  <c:v>-0.388838</c:v>
                </c:pt>
                <c:pt idx="12">
                  <c:v>-0.387307</c:v>
                </c:pt>
                <c:pt idx="13">
                  <c:v>-0.316792</c:v>
                </c:pt>
                <c:pt idx="14">
                  <c:v>-0.385334</c:v>
                </c:pt>
                <c:pt idx="15">
                  <c:v>-0.042044</c:v>
                </c:pt>
                <c:pt idx="16">
                  <c:v>-0.247295</c:v>
                </c:pt>
                <c:pt idx="17">
                  <c:v>-0.249152</c:v>
                </c:pt>
                <c:pt idx="18">
                  <c:v>-0.157364</c:v>
                </c:pt>
                <c:pt idx="19">
                  <c:v>-0.338039</c:v>
                </c:pt>
                <c:pt idx="20">
                  <c:v>-0.060004</c:v>
                </c:pt>
                <c:pt idx="21">
                  <c:v>-0.408499</c:v>
                </c:pt>
                <c:pt idx="22">
                  <c:v>-0.354281</c:v>
                </c:pt>
                <c:pt idx="23">
                  <c:v>-0.407605</c:v>
                </c:pt>
                <c:pt idx="24">
                  <c:v>-0.360521</c:v>
                </c:pt>
                <c:pt idx="25">
                  <c:v>-0.323822</c:v>
                </c:pt>
                <c:pt idx="26">
                  <c:v>-0.258491</c:v>
                </c:pt>
                <c:pt idx="27">
                  <c:v>-0.210622</c:v>
                </c:pt>
                <c:pt idx="28">
                  <c:v>-0.119358</c:v>
                </c:pt>
                <c:pt idx="29">
                  <c:v>-0.310718</c:v>
                </c:pt>
                <c:pt idx="30">
                  <c:v>-0.24859</c:v>
                </c:pt>
                <c:pt idx="31">
                  <c:v>-0.367756</c:v>
                </c:pt>
                <c:pt idx="32">
                  <c:v>-0.050839</c:v>
                </c:pt>
                <c:pt idx="33">
                  <c:v>-0.172396</c:v>
                </c:pt>
                <c:pt idx="34">
                  <c:v>-0.420169</c:v>
                </c:pt>
                <c:pt idx="35">
                  <c:v>-0.331856</c:v>
                </c:pt>
                <c:pt idx="36">
                  <c:v>-0.390338</c:v>
                </c:pt>
                <c:pt idx="37">
                  <c:v>-0.403482</c:v>
                </c:pt>
                <c:pt idx="38">
                  <c:v>-0.301275</c:v>
                </c:pt>
                <c:pt idx="39">
                  <c:v>-0.339314</c:v>
                </c:pt>
                <c:pt idx="40">
                  <c:v>-0.316333</c:v>
                </c:pt>
                <c:pt idx="41">
                  <c:v>-0.061184</c:v>
                </c:pt>
                <c:pt idx="42">
                  <c:v>-0.262965</c:v>
                </c:pt>
                <c:pt idx="43">
                  <c:v>-0.305867</c:v>
                </c:pt>
                <c:pt idx="44">
                  <c:v>-0.20186</c:v>
                </c:pt>
                <c:pt idx="45">
                  <c:v>-0.292541</c:v>
                </c:pt>
                <c:pt idx="46">
                  <c:v>-0.395792</c:v>
                </c:pt>
                <c:pt idx="47">
                  <c:v>-0.168582</c:v>
                </c:pt>
                <c:pt idx="48">
                  <c:v>-0.095368</c:v>
                </c:pt>
              </c:numCache>
            </c:numRef>
          </c:xVal>
          <c:yVal>
            <c:numRef>
              <c:f>'Chart Data'!$F$2:$F$50</c:f>
              <c:numCache>
                <c:formatCode>0.0</c:formatCode>
                <c:ptCount val="49"/>
                <c:pt idx="0">
                  <c:v>-0.047828</c:v>
                </c:pt>
                <c:pt idx="1">
                  <c:v>0.015524</c:v>
                </c:pt>
                <c:pt idx="2">
                  <c:v>-0.027883</c:v>
                </c:pt>
                <c:pt idx="3">
                  <c:v>-0.008649</c:v>
                </c:pt>
                <c:pt idx="4">
                  <c:v>-0.027183</c:v>
                </c:pt>
                <c:pt idx="5">
                  <c:v>-0.005229</c:v>
                </c:pt>
                <c:pt idx="6">
                  <c:v>-0.03216</c:v>
                </c:pt>
                <c:pt idx="7">
                  <c:v>0.000235</c:v>
                </c:pt>
                <c:pt idx="8">
                  <c:v>-0.037363</c:v>
                </c:pt>
                <c:pt idx="9">
                  <c:v>-0.040347</c:v>
                </c:pt>
                <c:pt idx="10">
                  <c:v>-0.041949</c:v>
                </c:pt>
                <c:pt idx="11">
                  <c:v>-0.075289</c:v>
                </c:pt>
                <c:pt idx="12">
                  <c:v>-0.075348</c:v>
                </c:pt>
                <c:pt idx="13">
                  <c:v>-0.040347</c:v>
                </c:pt>
                <c:pt idx="14">
                  <c:v>-0.072348</c:v>
                </c:pt>
                <c:pt idx="15">
                  <c:v>0.007744</c:v>
                </c:pt>
                <c:pt idx="16">
                  <c:v>-0.024956</c:v>
                </c:pt>
                <c:pt idx="17">
                  <c:v>-0.078212</c:v>
                </c:pt>
                <c:pt idx="18">
                  <c:v>-0.007345</c:v>
                </c:pt>
                <c:pt idx="19">
                  <c:v>-0.036757</c:v>
                </c:pt>
                <c:pt idx="20">
                  <c:v>-0.002763</c:v>
                </c:pt>
                <c:pt idx="21">
                  <c:v>-0.021778</c:v>
                </c:pt>
                <c:pt idx="22">
                  <c:v>-0.047198</c:v>
                </c:pt>
                <c:pt idx="23">
                  <c:v>-0.024082</c:v>
                </c:pt>
                <c:pt idx="24">
                  <c:v>-0.010988</c:v>
                </c:pt>
                <c:pt idx="25">
                  <c:v>-0.015568</c:v>
                </c:pt>
                <c:pt idx="26">
                  <c:v>-0.030333</c:v>
                </c:pt>
                <c:pt idx="27">
                  <c:v>-0.033802</c:v>
                </c:pt>
                <c:pt idx="28">
                  <c:v>-0.031173</c:v>
                </c:pt>
                <c:pt idx="29">
                  <c:v>-0.004283</c:v>
                </c:pt>
                <c:pt idx="30">
                  <c:v>0.042074</c:v>
                </c:pt>
                <c:pt idx="31">
                  <c:v>-0.051273</c:v>
                </c:pt>
                <c:pt idx="32">
                  <c:v>-0.039127</c:v>
                </c:pt>
                <c:pt idx="33">
                  <c:v>0.021121</c:v>
                </c:pt>
                <c:pt idx="34">
                  <c:v>-0.030493</c:v>
                </c:pt>
                <c:pt idx="35">
                  <c:v>-0.020992</c:v>
                </c:pt>
                <c:pt idx="36">
                  <c:v>-0.038117</c:v>
                </c:pt>
                <c:pt idx="37">
                  <c:v>-0.049941</c:v>
                </c:pt>
                <c:pt idx="38">
                  <c:v>-0.040406</c:v>
                </c:pt>
                <c:pt idx="39">
                  <c:v>-0.0404</c:v>
                </c:pt>
                <c:pt idx="40">
                  <c:v>-0.014904</c:v>
                </c:pt>
                <c:pt idx="41">
                  <c:v>0.032984</c:v>
                </c:pt>
                <c:pt idx="42">
                  <c:v>-0.036204</c:v>
                </c:pt>
                <c:pt idx="43">
                  <c:v>-0.045704</c:v>
                </c:pt>
                <c:pt idx="44">
                  <c:v>-0.029212</c:v>
                </c:pt>
                <c:pt idx="45">
                  <c:v>-0.034326</c:v>
                </c:pt>
                <c:pt idx="46">
                  <c:v>-0.039778</c:v>
                </c:pt>
                <c:pt idx="47">
                  <c:v>-0.014154</c:v>
                </c:pt>
                <c:pt idx="48">
                  <c:v>-0.005241</c:v>
                </c:pt>
              </c:numCache>
            </c:numRef>
          </c:yVal>
        </c:ser>
        <c:ser>
          <c:idx val="3"/>
          <c:order val="3"/>
          <c:tx>
            <c:v>Farrand Mystery</c:v>
          </c:tx>
          <c:spPr>
            <a:solidFill xmlns:a="http://schemas.openxmlformats.org/drawingml/2006/main">
              <a:srgbClr val="DD9300"/>
            </a:solidFill>
            <a:ln xmlns:a="http://schemas.openxmlformats.org/drawingml/2006/main" w="0">
              <a:noFill/>
            </a:ln>
          </c:spPr>
          <c:marker>
            <c:symbol val="circle"/>
            <c:size val="12"/>
            <c:spPr>
              <a:noFill xmlns:a="http://schemas.openxmlformats.org/drawingml/2006/main"/>
            </c:spPr>
          </c:marker>
          <c:xVal>
            <c:numRef>
              <c:f>'Chart Data'!$G$2:$G$2</c:f>
              <c:numCache>
                <c:formatCode>General</c:formatCode>
                <c:ptCount val="1"/>
                <c:pt idx="0">
                  <c:v>-0.213906</c:v>
                </c:pt>
              </c:numCache>
            </c:numRef>
          </c:xVal>
          <c:yVal>
            <c:numRef>
              <c:f>'Chart Data'!$H$2:$H$2</c:f>
              <c:numCache>
                <c:formatCode>0.0</c:formatCode>
                <c:ptCount val="1"/>
                <c:pt idx="0">
                  <c:v>-0.034598</c:v>
                </c:pt>
              </c:numCache>
            </c:numRef>
          </c:yVal>
        </c:ser>
        <c:ser>
          <c:idx val="4"/>
          <c:order val="4"/>
          <c:tx>
            <c:v>Commins</c:v>
          </c:tx>
          <c:spPr>
            <a:solidFill xmlns:a="http://schemas.openxmlformats.org/drawingml/2006/main">
              <a:srgbClr val="3889AC"/>
            </a:solidFill>
            <a:ln xmlns:a="http://schemas.openxmlformats.org/drawingml/2006/main" w="0">
              <a:noFill/>
            </a:ln>
          </c:spPr>
          <c:marker>
            <c:symbol val="circle"/>
            <c:size val="5"/>
            <c:spPr>
              <a:noFill xmlns:a="http://schemas.openxmlformats.org/drawingml/2006/main"/>
            </c:spPr>
          </c:marker>
          <c:xVal>
            <c:numRef>
              <c:f>'Chart Data'!$I$2:$I$50</c:f>
              <c:numCache>
                <c:formatCode>General</c:formatCode>
                <c:ptCount val="49"/>
                <c:pt idx="0">
                  <c:v>-0.018051</c:v>
                </c:pt>
                <c:pt idx="1">
                  <c:v>-0.166499</c:v>
                </c:pt>
                <c:pt idx="2">
                  <c:v>-0.026462</c:v>
                </c:pt>
                <c:pt idx="3">
                  <c:v>0.008673</c:v>
                </c:pt>
                <c:pt idx="4">
                  <c:v>0.202703</c:v>
                </c:pt>
                <c:pt idx="5">
                  <c:v>0.152607</c:v>
                </c:pt>
                <c:pt idx="6">
                  <c:v>0.202703</c:v>
                </c:pt>
                <c:pt idx="7">
                  <c:v>0.120054</c:v>
                </c:pt>
                <c:pt idx="8">
                  <c:v>0.198099</c:v>
                </c:pt>
                <c:pt idx="9">
                  <c:v>0.20833</c:v>
                </c:pt>
                <c:pt idx="10">
                  <c:v>0.208883</c:v>
                </c:pt>
                <c:pt idx="11">
                  <c:v>0.20065</c:v>
                </c:pt>
                <c:pt idx="12">
                  <c:v>0.21432</c:v>
                </c:pt>
                <c:pt idx="13">
                  <c:v>0.00979</c:v>
                </c:pt>
                <c:pt idx="14">
                  <c:v>-0.028495</c:v>
                </c:pt>
                <c:pt idx="15">
                  <c:v>-0.029054</c:v>
                </c:pt>
                <c:pt idx="16">
                  <c:v>-0.236896</c:v>
                </c:pt>
                <c:pt idx="17">
                  <c:v>0.054844</c:v>
                </c:pt>
                <c:pt idx="18">
                  <c:v>-0.096086</c:v>
                </c:pt>
                <c:pt idx="19">
                  <c:v>-0.180106</c:v>
                </c:pt>
                <c:pt idx="20">
                  <c:v>-0.129353</c:v>
                </c:pt>
                <c:pt idx="21">
                  <c:v>0.17492</c:v>
                </c:pt>
                <c:pt idx="22">
                  <c:v>0.212834</c:v>
                </c:pt>
                <c:pt idx="23">
                  <c:v>0.185881</c:v>
                </c:pt>
                <c:pt idx="24">
                  <c:v>-0.106641</c:v>
                </c:pt>
                <c:pt idx="25">
                  <c:v>-0.090837</c:v>
                </c:pt>
                <c:pt idx="26">
                  <c:v>0.059757</c:v>
                </c:pt>
                <c:pt idx="27">
                  <c:v>-0.053798</c:v>
                </c:pt>
                <c:pt idx="28">
                  <c:v>0.066339</c:v>
                </c:pt>
                <c:pt idx="29">
                  <c:v>-0.079664</c:v>
                </c:pt>
                <c:pt idx="30">
                  <c:v>0.129411</c:v>
                </c:pt>
                <c:pt idx="31">
                  <c:v>0.130509</c:v>
                </c:pt>
                <c:pt idx="32">
                  <c:v>0.027221</c:v>
                </c:pt>
                <c:pt idx="33">
                  <c:v>-0.25675</c:v>
                </c:pt>
                <c:pt idx="34">
                  <c:v>0.004064</c:v>
                </c:pt>
                <c:pt idx="35">
                  <c:v>0.204406</c:v>
                </c:pt>
                <c:pt idx="36">
                  <c:v>0.035142</c:v>
                </c:pt>
                <c:pt idx="37">
                  <c:v>0.032958</c:v>
                </c:pt>
                <c:pt idx="38">
                  <c:v>0.009007</c:v>
                </c:pt>
                <c:pt idx="39">
                  <c:v>-0.039234</c:v>
                </c:pt>
                <c:pt idx="40">
                  <c:v>-0.036872</c:v>
                </c:pt>
                <c:pt idx="41">
                  <c:v>0.00365</c:v>
                </c:pt>
                <c:pt idx="42">
                  <c:v>0.010413</c:v>
                </c:pt>
                <c:pt idx="43">
                  <c:v>-0.03174</c:v>
                </c:pt>
                <c:pt idx="44">
                  <c:v>-0.05297</c:v>
                </c:pt>
                <c:pt idx="45">
                  <c:v>0.019674</c:v>
                </c:pt>
                <c:pt idx="46">
                  <c:v>-0.085414</c:v>
                </c:pt>
                <c:pt idx="47">
                  <c:v>0.024985</c:v>
                </c:pt>
                <c:pt idx="48">
                  <c:v>-0.125572</c:v>
                </c:pt>
              </c:numCache>
            </c:numRef>
          </c:xVal>
          <c:yVal>
            <c:numRef>
              <c:f>'Chart Data'!$J$2:$J$50</c:f>
              <c:numCache>
                <c:formatCode>0.0</c:formatCode>
                <c:ptCount val="49"/>
                <c:pt idx="0">
                  <c:v>-0.017596</c:v>
                </c:pt>
                <c:pt idx="1">
                  <c:v>0.004412</c:v>
                </c:pt>
                <c:pt idx="2">
                  <c:v>0.007123</c:v>
                </c:pt>
                <c:pt idx="3">
                  <c:v>0.00596</c:v>
                </c:pt>
                <c:pt idx="4">
                  <c:v>0.765602</c:v>
                </c:pt>
                <c:pt idx="5">
                  <c:v>0.678158</c:v>
                </c:pt>
                <c:pt idx="6">
                  <c:v>0.765602</c:v>
                </c:pt>
                <c:pt idx="7">
                  <c:v>0.478764</c:v>
                </c:pt>
                <c:pt idx="8">
                  <c:v>0.591349</c:v>
                </c:pt>
                <c:pt idx="9">
                  <c:v>0.627021</c:v>
                </c:pt>
                <c:pt idx="10">
                  <c:v>0.686188</c:v>
                </c:pt>
                <c:pt idx="11">
                  <c:v>0.643319</c:v>
                </c:pt>
                <c:pt idx="12">
                  <c:v>0.668396</c:v>
                </c:pt>
                <c:pt idx="13">
                  <c:v>-0.074613</c:v>
                </c:pt>
                <c:pt idx="14">
                  <c:v>-0.07436</c:v>
                </c:pt>
                <c:pt idx="15">
                  <c:v>0.007058</c:v>
                </c:pt>
                <c:pt idx="16">
                  <c:v>0.00707</c:v>
                </c:pt>
                <c:pt idx="17">
                  <c:v>0.013211</c:v>
                </c:pt>
                <c:pt idx="18">
                  <c:v>-0.049684</c:v>
                </c:pt>
                <c:pt idx="19">
                  <c:v>-0.001741</c:v>
                </c:pt>
                <c:pt idx="20">
                  <c:v>-0.00862</c:v>
                </c:pt>
                <c:pt idx="21">
                  <c:v>-0.013997</c:v>
                </c:pt>
                <c:pt idx="22">
                  <c:v>0.71627</c:v>
                </c:pt>
                <c:pt idx="23">
                  <c:v>0.649352</c:v>
                </c:pt>
                <c:pt idx="24">
                  <c:v>0.00345</c:v>
                </c:pt>
                <c:pt idx="25">
                  <c:v>-0.005969</c:v>
                </c:pt>
                <c:pt idx="26">
                  <c:v>0.042008</c:v>
                </c:pt>
                <c:pt idx="27">
                  <c:v>0.001746</c:v>
                </c:pt>
                <c:pt idx="28">
                  <c:v>0.012844</c:v>
                </c:pt>
                <c:pt idx="29">
                  <c:v>0.003966</c:v>
                </c:pt>
                <c:pt idx="30">
                  <c:v>0.483665</c:v>
                </c:pt>
                <c:pt idx="31">
                  <c:v>0.463127</c:v>
                </c:pt>
                <c:pt idx="32">
                  <c:v>0.013783</c:v>
                </c:pt>
                <c:pt idx="33">
                  <c:v>-0.026418</c:v>
                </c:pt>
                <c:pt idx="34">
                  <c:v>-0.012911</c:v>
                </c:pt>
                <c:pt idx="35">
                  <c:v>0.586822</c:v>
                </c:pt>
                <c:pt idx="36">
                  <c:v>0.072519</c:v>
                </c:pt>
                <c:pt idx="37">
                  <c:v>0.008081</c:v>
                </c:pt>
                <c:pt idx="38">
                  <c:v>-0.005228</c:v>
                </c:pt>
                <c:pt idx="39">
                  <c:v>0.049835</c:v>
                </c:pt>
                <c:pt idx="40">
                  <c:v>0.049529</c:v>
                </c:pt>
                <c:pt idx="41">
                  <c:v>0.023097</c:v>
                </c:pt>
                <c:pt idx="42">
                  <c:v>0.019975</c:v>
                </c:pt>
                <c:pt idx="43">
                  <c:v>-0.043129</c:v>
                </c:pt>
                <c:pt idx="44">
                  <c:v>-0.040002</c:v>
                </c:pt>
                <c:pt idx="45">
                  <c:v>-0.004118</c:v>
                </c:pt>
                <c:pt idx="46">
                  <c:v>-0.025419</c:v>
                </c:pt>
                <c:pt idx="47">
                  <c:v>0.036272</c:v>
                </c:pt>
                <c:pt idx="48">
                  <c:v>0.012617</c:v>
                </c:pt>
              </c:numCache>
            </c:numRef>
          </c:yVal>
        </c:ser>
        <c:ser>
          <c:idx val="5"/>
          <c:order val="5"/>
          <c:tx>
            <c:v>Commins Mystery</c:v>
          </c:tx>
          <c:spPr>
            <a:solidFill xmlns:a="http://schemas.openxmlformats.org/drawingml/2006/main">
              <a:srgbClr val="3889AC"/>
            </a:solidFill>
            <a:ln xmlns:a="http://schemas.openxmlformats.org/drawingml/2006/main" w="0">
              <a:noFill/>
            </a:ln>
          </c:spPr>
          <c:marker>
            <c:symbol val="circle"/>
            <c:size val="12"/>
            <c:spPr>
              <a:noFill xmlns:a="http://schemas.openxmlformats.org/drawingml/2006/main"/>
            </c:spPr>
          </c:marker>
          <c:xVal>
            <c:numRef>
              <c:f>'Chart Data'!$K$2:$K$2</c:f>
              <c:numCache>
                <c:formatCode>General</c:formatCode>
                <c:ptCount val="1"/>
                <c:pt idx="0">
                  <c:v>-0.023443</c:v>
                </c:pt>
              </c:numCache>
            </c:numRef>
          </c:xVal>
          <c:yVal>
            <c:numRef>
              <c:f>'Chart Data'!$L$2:$L$2</c:f>
              <c:numCache>
                <c:formatCode>0.0</c:formatCode>
                <c:ptCount val="1"/>
                <c:pt idx="0">
                  <c:v>-0.015324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PC2 (5.35 %)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PC1 (6.23 %)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latin typeface="Arial"/>
                <a:ea typeface="Arial"/>
                <a:cs typeface="Arial"/>
              </a:rPr>
              <a:t>Stilmerkmale</a:t>
            </a:r>
          </a:p>
        </c:rich>
      </c:tx>
      <c:overlay val="0"/>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title>
    <c:plotArea>
      <c:scatterChart>
        <c:scatterStyle val="marker"/>
        <c:ser>
          <c:idx val="0"/>
          <c:order val="0"/>
          <c:tx>
            <c:v>Kazer</c:v>
          </c:tx>
          <c:spPr>
            <a:solidFill xmlns:a="http://schemas.openxmlformats.org/drawingml/2006/main">
              <a:srgbClr val="C12C89"/>
            </a:solidFill>
            <a:ln xmlns:a="http://schemas.openxmlformats.org/drawingml/2006/main" w="0">
              <a:noFill/>
            </a:ln>
          </c:spPr>
          <c:marker>
            <c:symbol val="circle"/>
            <c:size val="5"/>
            <c:spPr>
              <a:noFill xmlns:a="http://schemas.openxmlformats.org/drawingml/2006/main"/>
            </c:spPr>
          </c:marker>
          <c:xVal>
            <c:numRef>
              <c:f>'Chart Data'!$A$2:$A$50</c:f>
              <c:numCache>
                <c:formatCode>General</c:formatCode>
                <c:ptCount val="49"/>
                <c:pt idx="0">
                  <c:v>0.972474</c:v>
                </c:pt>
                <c:pt idx="1">
                  <c:v>1.431197</c:v>
                </c:pt>
                <c:pt idx="2">
                  <c:v>-1.011565</c:v>
                </c:pt>
                <c:pt idx="3">
                  <c:v>0.076664</c:v>
                </c:pt>
                <c:pt idx="4">
                  <c:v>-1.311922</c:v>
                </c:pt>
                <c:pt idx="5">
                  <c:v>0.594179</c:v>
                </c:pt>
                <c:pt idx="6">
                  <c:v>0.3075</c:v>
                </c:pt>
                <c:pt idx="7">
                  <c:v>-0.024696</c:v>
                </c:pt>
                <c:pt idx="8">
                  <c:v>2.598129</c:v>
                </c:pt>
                <c:pt idx="9">
                  <c:v>-1.365841</c:v>
                </c:pt>
                <c:pt idx="10">
                  <c:v>-0.835063</c:v>
                </c:pt>
                <c:pt idx="11">
                  <c:v>1.34587</c:v>
                </c:pt>
                <c:pt idx="12">
                  <c:v>0.775378</c:v>
                </c:pt>
                <c:pt idx="13">
                  <c:v>2.20703</c:v>
                </c:pt>
                <c:pt idx="14">
                  <c:v>-1.557712</c:v>
                </c:pt>
                <c:pt idx="15">
                  <c:v>0.603712</c:v>
                </c:pt>
                <c:pt idx="16">
                  <c:v>0.806633</c:v>
                </c:pt>
                <c:pt idx="17">
                  <c:v>-2.119925</c:v>
                </c:pt>
                <c:pt idx="18">
                  <c:v>2.277527</c:v>
                </c:pt>
                <c:pt idx="19">
                  <c:v>1.276006</c:v>
                </c:pt>
                <c:pt idx="20">
                  <c:v>0.051425</c:v>
                </c:pt>
                <c:pt idx="21">
                  <c:v>0.336349</c:v>
                </c:pt>
                <c:pt idx="22">
                  <c:v>2.308092</c:v>
                </c:pt>
                <c:pt idx="23">
                  <c:v>3.036163</c:v>
                </c:pt>
                <c:pt idx="24">
                  <c:v>1.236919</c:v>
                </c:pt>
                <c:pt idx="25">
                  <c:v>0.742584</c:v>
                </c:pt>
                <c:pt idx="26">
                  <c:v>-0.23259</c:v>
                </c:pt>
                <c:pt idx="27">
                  <c:v>1.02264</c:v>
                </c:pt>
                <c:pt idx="28">
                  <c:v>1.7996</c:v>
                </c:pt>
                <c:pt idx="29">
                  <c:v>2.437778</c:v>
                </c:pt>
                <c:pt idx="30">
                  <c:v>-0.603842</c:v>
                </c:pt>
                <c:pt idx="31">
                  <c:v>1.227388</c:v>
                </c:pt>
                <c:pt idx="32">
                  <c:v>0.371696</c:v>
                </c:pt>
                <c:pt idx="33">
                  <c:v>1.841936</c:v>
                </c:pt>
                <c:pt idx="34">
                  <c:v>2.484964</c:v>
                </c:pt>
                <c:pt idx="35">
                  <c:v>2.245815</c:v>
                </c:pt>
                <c:pt idx="36">
                  <c:v>1.739828</c:v>
                </c:pt>
                <c:pt idx="37">
                  <c:v>0.115771</c:v>
                </c:pt>
                <c:pt idx="38">
                  <c:v>1.459198</c:v>
                </c:pt>
                <c:pt idx="39">
                  <c:v>-0.846094</c:v>
                </c:pt>
                <c:pt idx="40">
                  <c:v>-0.361183</c:v>
                </c:pt>
                <c:pt idx="41">
                  <c:v>-1.121349</c:v>
                </c:pt>
                <c:pt idx="42">
                  <c:v>1.14218</c:v>
                </c:pt>
                <c:pt idx="43">
                  <c:v>0.860284</c:v>
                </c:pt>
                <c:pt idx="44">
                  <c:v>1.029317</c:v>
                </c:pt>
                <c:pt idx="45">
                  <c:v>3.101648</c:v>
                </c:pt>
                <c:pt idx="46">
                  <c:v>4.82277</c:v>
                </c:pt>
                <c:pt idx="47">
                  <c:v>1.889299</c:v>
                </c:pt>
                <c:pt idx="48">
                  <c:v>2.074624</c:v>
                </c:pt>
              </c:numCache>
            </c:numRef>
          </c:xVal>
          <c:yVal>
            <c:numRef>
              <c:f>'Chart Data'!$B$2:$B$50</c:f>
              <c:numCache>
                <c:formatCode>0</c:formatCode>
                <c:ptCount val="49"/>
                <c:pt idx="0">
                  <c:v>0.438816</c:v>
                </c:pt>
                <c:pt idx="1">
                  <c:v>-0.520606</c:v>
                </c:pt>
                <c:pt idx="2">
                  <c:v>-0.424131</c:v>
                </c:pt>
                <c:pt idx="3">
                  <c:v>-1.80623</c:v>
                </c:pt>
                <c:pt idx="4">
                  <c:v>-1.954208</c:v>
                </c:pt>
                <c:pt idx="5">
                  <c:v>-3.878638</c:v>
                </c:pt>
                <c:pt idx="6">
                  <c:v>-0.756313</c:v>
                </c:pt>
                <c:pt idx="7">
                  <c:v>-0.280345</c:v>
                </c:pt>
                <c:pt idx="8">
                  <c:v>-1.536257</c:v>
                </c:pt>
                <c:pt idx="9">
                  <c:v>0.439734</c:v>
                </c:pt>
                <c:pt idx="10">
                  <c:v>1.010621</c:v>
                </c:pt>
                <c:pt idx="11">
                  <c:v>-3.524913</c:v>
                </c:pt>
                <c:pt idx="12">
                  <c:v>-0.45764</c:v>
                </c:pt>
                <c:pt idx="13">
                  <c:v>-0.932748</c:v>
                </c:pt>
                <c:pt idx="14">
                  <c:v>-0.053073</c:v>
                </c:pt>
                <c:pt idx="15">
                  <c:v>-0.308805</c:v>
                </c:pt>
                <c:pt idx="16">
                  <c:v>-1.426241</c:v>
                </c:pt>
                <c:pt idx="17">
                  <c:v>-0.20995</c:v>
                </c:pt>
                <c:pt idx="18">
                  <c:v>-0.403545</c:v>
                </c:pt>
                <c:pt idx="19">
                  <c:v>-1.657601</c:v>
                </c:pt>
                <c:pt idx="20">
                  <c:v>-0.507149</c:v>
                </c:pt>
                <c:pt idx="21">
                  <c:v>-0.29463</c:v>
                </c:pt>
                <c:pt idx="22">
                  <c:v>-2.092138</c:v>
                </c:pt>
                <c:pt idx="23">
                  <c:v>-0.304697</c:v>
                </c:pt>
                <c:pt idx="24">
                  <c:v>-0.124664</c:v>
                </c:pt>
                <c:pt idx="25">
                  <c:v>-2.108302</c:v>
                </c:pt>
                <c:pt idx="26">
                  <c:v>-2.635616</c:v>
                </c:pt>
                <c:pt idx="27">
                  <c:v>-1.133652</c:v>
                </c:pt>
                <c:pt idx="28">
                  <c:v>-1.180556</c:v>
                </c:pt>
                <c:pt idx="29">
                  <c:v>-1.54397</c:v>
                </c:pt>
                <c:pt idx="30">
                  <c:v>-1.040489</c:v>
                </c:pt>
                <c:pt idx="31">
                  <c:v>-2.682109</c:v>
                </c:pt>
                <c:pt idx="32">
                  <c:v>-0.967079</c:v>
                </c:pt>
                <c:pt idx="33">
                  <c:v>-0.277072</c:v>
                </c:pt>
                <c:pt idx="34">
                  <c:v>0.224742</c:v>
                </c:pt>
                <c:pt idx="35">
                  <c:v>0.833145</c:v>
                </c:pt>
                <c:pt idx="36">
                  <c:v>1.152498</c:v>
                </c:pt>
                <c:pt idx="37">
                  <c:v>-0.352368</c:v>
                </c:pt>
                <c:pt idx="38">
                  <c:v>0.01715</c:v>
                </c:pt>
                <c:pt idx="39">
                  <c:v>-0.411563</c:v>
                </c:pt>
                <c:pt idx="40">
                  <c:v>0.072579</c:v>
                </c:pt>
                <c:pt idx="41">
                  <c:v>-2.037793</c:v>
                </c:pt>
                <c:pt idx="42">
                  <c:v>-0.548455</c:v>
                </c:pt>
                <c:pt idx="43">
                  <c:v>-1.960525</c:v>
                </c:pt>
                <c:pt idx="44">
                  <c:v>-0.456219</c:v>
                </c:pt>
                <c:pt idx="45">
                  <c:v>-1.12157</c:v>
                </c:pt>
                <c:pt idx="46">
                  <c:v>-0.845853</c:v>
                </c:pt>
                <c:pt idx="47">
                  <c:v>-0.711635</c:v>
                </c:pt>
                <c:pt idx="48">
                  <c:v>-1.290383</c:v>
                </c:pt>
              </c:numCache>
            </c:numRef>
          </c:yVal>
        </c:ser>
        <c:ser>
          <c:idx val="1"/>
          <c:order val="1"/>
          <c:tx>
            <c:v>Kazer Mystery</c:v>
          </c:tx>
          <c:spPr>
            <a:solidFill xmlns:a="http://schemas.openxmlformats.org/drawingml/2006/main">
              <a:srgbClr val="C12C89"/>
            </a:solidFill>
            <a:ln xmlns:a="http://schemas.openxmlformats.org/drawingml/2006/main" w="0">
              <a:noFill/>
            </a:ln>
          </c:spPr>
          <c:marker>
            <c:symbol val="circle"/>
            <c:size val="12"/>
            <c:spPr>
              <a:noFill xmlns:a="http://schemas.openxmlformats.org/drawingml/2006/main"/>
            </c:spPr>
          </c:marker>
          <c:xVal>
            <c:numRef>
              <c:f>'Chart Data'!$C$2:$C$2</c:f>
              <c:numCache>
                <c:formatCode>General</c:formatCode>
                <c:ptCount val="1"/>
                <c:pt idx="0">
                  <c:v>0.550118</c:v>
                </c:pt>
              </c:numCache>
            </c:numRef>
          </c:xVal>
          <c:yVal>
            <c:numRef>
              <c:f>'Chart Data'!$D$2:$D$2</c:f>
              <c:numCache>
                <c:formatCode>0</c:formatCode>
                <c:ptCount val="1"/>
                <c:pt idx="0">
                  <c:v>0.140702</c:v>
                </c:pt>
              </c:numCache>
            </c:numRef>
          </c:yVal>
        </c:ser>
        <c:ser>
          <c:idx val="2"/>
          <c:order val="2"/>
          <c:tx>
            <c:v>Farrand</c:v>
          </c:tx>
          <c:spPr>
            <a:solidFill xmlns:a="http://schemas.openxmlformats.org/drawingml/2006/main">
              <a:srgbClr val="DD9300"/>
            </a:solidFill>
            <a:ln xmlns:a="http://schemas.openxmlformats.org/drawingml/2006/main" w="0">
              <a:noFill/>
            </a:ln>
          </c:spPr>
          <c:marker>
            <c:symbol val="circle"/>
            <c:size val="5"/>
            <c:spPr>
              <a:noFill xmlns:a="http://schemas.openxmlformats.org/drawingml/2006/main"/>
            </c:spPr>
          </c:marker>
          <c:xVal>
            <c:numRef>
              <c:f>'Chart Data'!$E$2:$E$50</c:f>
              <c:numCache>
                <c:formatCode>General</c:formatCode>
                <c:ptCount val="49"/>
                <c:pt idx="0">
                  <c:v>-0.440783</c:v>
                </c:pt>
                <c:pt idx="1">
                  <c:v>-0.777813</c:v>
                </c:pt>
                <c:pt idx="2">
                  <c:v>1.321319</c:v>
                </c:pt>
                <c:pt idx="3">
                  <c:v>0.673563</c:v>
                </c:pt>
                <c:pt idx="4">
                  <c:v>0.2607</c:v>
                </c:pt>
                <c:pt idx="5">
                  <c:v>-0.407403</c:v>
                </c:pt>
                <c:pt idx="6">
                  <c:v>-0.162907</c:v>
                </c:pt>
                <c:pt idx="7">
                  <c:v>2.108249</c:v>
                </c:pt>
                <c:pt idx="8">
                  <c:v>2.832451</c:v>
                </c:pt>
                <c:pt idx="9">
                  <c:v>-0.749738</c:v>
                </c:pt>
                <c:pt idx="10">
                  <c:v>0.821958</c:v>
                </c:pt>
                <c:pt idx="11">
                  <c:v>-1.710393</c:v>
                </c:pt>
                <c:pt idx="12">
                  <c:v>-1.706868</c:v>
                </c:pt>
                <c:pt idx="13">
                  <c:v>-0.295597</c:v>
                </c:pt>
                <c:pt idx="14">
                  <c:v>0.650312</c:v>
                </c:pt>
                <c:pt idx="15">
                  <c:v>-0.144921</c:v>
                </c:pt>
                <c:pt idx="16">
                  <c:v>0.538379</c:v>
                </c:pt>
                <c:pt idx="17">
                  <c:v>-0.878703</c:v>
                </c:pt>
                <c:pt idx="18">
                  <c:v>0.839827</c:v>
                </c:pt>
                <c:pt idx="19">
                  <c:v>-1.208207</c:v>
                </c:pt>
                <c:pt idx="20">
                  <c:v>-0.095187</c:v>
                </c:pt>
                <c:pt idx="21">
                  <c:v>0.420823</c:v>
                </c:pt>
                <c:pt idx="22">
                  <c:v>1.107378</c:v>
                </c:pt>
                <c:pt idx="23">
                  <c:v>0.157833</c:v>
                </c:pt>
                <c:pt idx="24">
                  <c:v>-0.970891</c:v>
                </c:pt>
                <c:pt idx="25">
                  <c:v>-0.256229</c:v>
                </c:pt>
                <c:pt idx="26">
                  <c:v>-0.625151</c:v>
                </c:pt>
                <c:pt idx="27">
                  <c:v>1.748749</c:v>
                </c:pt>
                <c:pt idx="28">
                  <c:v>1.764902</c:v>
                </c:pt>
                <c:pt idx="29">
                  <c:v>-0.550714</c:v>
                </c:pt>
                <c:pt idx="30">
                  <c:v>1.727997</c:v>
                </c:pt>
                <c:pt idx="31">
                  <c:v>0.449095</c:v>
                </c:pt>
                <c:pt idx="32">
                  <c:v>1.090157</c:v>
                </c:pt>
                <c:pt idx="33">
                  <c:v>1.604221</c:v>
                </c:pt>
                <c:pt idx="34">
                  <c:v>1.9608</c:v>
                </c:pt>
                <c:pt idx="35">
                  <c:v>2.49967</c:v>
                </c:pt>
                <c:pt idx="36">
                  <c:v>0.911056</c:v>
                </c:pt>
                <c:pt idx="37">
                  <c:v>1.959947</c:v>
                </c:pt>
                <c:pt idx="38">
                  <c:v>2.762298</c:v>
                </c:pt>
                <c:pt idx="39">
                  <c:v>-1.276432</c:v>
                </c:pt>
                <c:pt idx="40">
                  <c:v>0.642332</c:v>
                </c:pt>
                <c:pt idx="41">
                  <c:v>-0.934766</c:v>
                </c:pt>
                <c:pt idx="42">
                  <c:v>0.441526</c:v>
                </c:pt>
                <c:pt idx="43">
                  <c:v>0.826853</c:v>
                </c:pt>
                <c:pt idx="44">
                  <c:v>-0.042609</c:v>
                </c:pt>
                <c:pt idx="45">
                  <c:v>-0.249881</c:v>
                </c:pt>
                <c:pt idx="46">
                  <c:v>-0.722242</c:v>
                </c:pt>
                <c:pt idx="47">
                  <c:v>1.306679</c:v>
                </c:pt>
                <c:pt idx="48">
                  <c:v>1.358353</c:v>
                </c:pt>
              </c:numCache>
            </c:numRef>
          </c:xVal>
          <c:yVal>
            <c:numRef>
              <c:f>'Chart Data'!$F$2:$F$50</c:f>
              <c:numCache>
                <c:formatCode>0</c:formatCode>
                <c:ptCount val="49"/>
                <c:pt idx="0">
                  <c:v>1.634127</c:v>
                </c:pt>
                <c:pt idx="1">
                  <c:v>1.047681</c:v>
                </c:pt>
                <c:pt idx="2">
                  <c:v>1.395802</c:v>
                </c:pt>
                <c:pt idx="3">
                  <c:v>0.041211</c:v>
                </c:pt>
                <c:pt idx="4">
                  <c:v>0.356243</c:v>
                </c:pt>
                <c:pt idx="5">
                  <c:v>0.974917</c:v>
                </c:pt>
                <c:pt idx="6">
                  <c:v>0.657353</c:v>
                </c:pt>
                <c:pt idx="7">
                  <c:v>0.106578</c:v>
                </c:pt>
                <c:pt idx="8">
                  <c:v>3.209495</c:v>
                </c:pt>
                <c:pt idx="9">
                  <c:v>1.401209</c:v>
                </c:pt>
                <c:pt idx="10">
                  <c:v>1.757392</c:v>
                </c:pt>
                <c:pt idx="11">
                  <c:v>2.364337</c:v>
                </c:pt>
                <c:pt idx="12">
                  <c:v>2.368627</c:v>
                </c:pt>
                <c:pt idx="13">
                  <c:v>1.62328</c:v>
                </c:pt>
                <c:pt idx="14">
                  <c:v>1.080402</c:v>
                </c:pt>
                <c:pt idx="15">
                  <c:v>-0.281002</c:v>
                </c:pt>
                <c:pt idx="16">
                  <c:v>3.08454</c:v>
                </c:pt>
                <c:pt idx="17">
                  <c:v>1.799137</c:v>
                </c:pt>
                <c:pt idx="18">
                  <c:v>1.259025</c:v>
                </c:pt>
                <c:pt idx="19">
                  <c:v>3.089517</c:v>
                </c:pt>
                <c:pt idx="20">
                  <c:v>2.025987</c:v>
                </c:pt>
                <c:pt idx="21">
                  <c:v>1.208092</c:v>
                </c:pt>
                <c:pt idx="22">
                  <c:v>2.603312</c:v>
                </c:pt>
                <c:pt idx="23">
                  <c:v>1.23071</c:v>
                </c:pt>
                <c:pt idx="24">
                  <c:v>2.274103</c:v>
                </c:pt>
                <c:pt idx="25">
                  <c:v>3.891357</c:v>
                </c:pt>
                <c:pt idx="26">
                  <c:v>1.165985</c:v>
                </c:pt>
                <c:pt idx="27">
                  <c:v>1.741197</c:v>
                </c:pt>
                <c:pt idx="28">
                  <c:v>1.236928</c:v>
                </c:pt>
                <c:pt idx="29">
                  <c:v>2.163711</c:v>
                </c:pt>
                <c:pt idx="30">
                  <c:v>1.528989</c:v>
                </c:pt>
                <c:pt idx="31">
                  <c:v>2.372878</c:v>
                </c:pt>
                <c:pt idx="32">
                  <c:v>1.788137</c:v>
                </c:pt>
                <c:pt idx="33">
                  <c:v>-2.177885</c:v>
                </c:pt>
                <c:pt idx="34">
                  <c:v>2.722919</c:v>
                </c:pt>
                <c:pt idx="35">
                  <c:v>1.797954</c:v>
                </c:pt>
                <c:pt idx="36">
                  <c:v>3.17729</c:v>
                </c:pt>
                <c:pt idx="37">
                  <c:v>1.336548</c:v>
                </c:pt>
                <c:pt idx="38">
                  <c:v>2.063698</c:v>
                </c:pt>
                <c:pt idx="39">
                  <c:v>1.587986</c:v>
                </c:pt>
                <c:pt idx="40">
                  <c:v>1.070447</c:v>
                </c:pt>
                <c:pt idx="41">
                  <c:v>2.215592</c:v>
                </c:pt>
                <c:pt idx="42">
                  <c:v>2.477763</c:v>
                </c:pt>
                <c:pt idx="43">
                  <c:v>2.180563</c:v>
                </c:pt>
                <c:pt idx="44">
                  <c:v>3.143629</c:v>
                </c:pt>
                <c:pt idx="45">
                  <c:v>1.750299</c:v>
                </c:pt>
                <c:pt idx="46">
                  <c:v>2.906489</c:v>
                </c:pt>
                <c:pt idx="47">
                  <c:v>0.344379</c:v>
                </c:pt>
                <c:pt idx="48">
                  <c:v>-0.525187</c:v>
                </c:pt>
              </c:numCache>
            </c:numRef>
          </c:yVal>
        </c:ser>
        <c:ser>
          <c:idx val="3"/>
          <c:order val="3"/>
          <c:tx>
            <c:v>Farrand Mystery</c:v>
          </c:tx>
          <c:spPr>
            <a:solidFill xmlns:a="http://schemas.openxmlformats.org/drawingml/2006/main">
              <a:srgbClr val="DD9300"/>
            </a:solidFill>
            <a:ln xmlns:a="http://schemas.openxmlformats.org/drawingml/2006/main" w="0">
              <a:noFill/>
            </a:ln>
          </c:spPr>
          <c:marker>
            <c:symbol val="circle"/>
            <c:size val="12"/>
            <c:spPr>
              <a:noFill xmlns:a="http://schemas.openxmlformats.org/drawingml/2006/main"/>
            </c:spPr>
          </c:marker>
          <c:xVal>
            <c:numRef>
              <c:f>'Chart Data'!$G$2:$G$2</c:f>
              <c:numCache>
                <c:formatCode>General</c:formatCode>
                <c:ptCount val="1"/>
                <c:pt idx="0">
                  <c:v>1.358471</c:v>
                </c:pt>
              </c:numCache>
            </c:numRef>
          </c:xVal>
          <c:yVal>
            <c:numRef>
              <c:f>'Chart Data'!$H$2:$H$2</c:f>
              <c:numCache>
                <c:formatCode>0</c:formatCode>
                <c:ptCount val="1"/>
                <c:pt idx="0">
                  <c:v>0.864495</c:v>
                </c:pt>
              </c:numCache>
            </c:numRef>
          </c:yVal>
        </c:ser>
        <c:ser>
          <c:idx val="4"/>
          <c:order val="4"/>
          <c:tx>
            <c:v>Commins</c:v>
          </c:tx>
          <c:spPr>
            <a:solidFill xmlns:a="http://schemas.openxmlformats.org/drawingml/2006/main">
              <a:srgbClr val="3889AC"/>
            </a:solidFill>
            <a:ln xmlns:a="http://schemas.openxmlformats.org/drawingml/2006/main" w="0">
              <a:noFill/>
            </a:ln>
          </c:spPr>
          <c:marker>
            <c:symbol val="circle"/>
            <c:size val="5"/>
            <c:spPr>
              <a:noFill xmlns:a="http://schemas.openxmlformats.org/drawingml/2006/main"/>
            </c:spPr>
          </c:marker>
          <c:xVal>
            <c:numRef>
              <c:f>'Chart Data'!$I$2:$I$50</c:f>
              <c:numCache>
                <c:formatCode>General</c:formatCode>
                <c:ptCount val="49"/>
                <c:pt idx="0">
                  <c:v>-2.994977</c:v>
                </c:pt>
                <c:pt idx="1">
                  <c:v>-2.92253</c:v>
                </c:pt>
                <c:pt idx="2">
                  <c:v>-0.333194</c:v>
                </c:pt>
                <c:pt idx="3">
                  <c:v>-0.286402</c:v>
                </c:pt>
                <c:pt idx="4">
                  <c:v>-0.339996</c:v>
                </c:pt>
                <c:pt idx="5">
                  <c:v>-1.540969</c:v>
                </c:pt>
                <c:pt idx="6">
                  <c:v>-0.338427</c:v>
                </c:pt>
                <c:pt idx="7">
                  <c:v>0.656716</c:v>
                </c:pt>
                <c:pt idx="8">
                  <c:v>-1.967319</c:v>
                </c:pt>
                <c:pt idx="9">
                  <c:v>-1.366559</c:v>
                </c:pt>
                <c:pt idx="10">
                  <c:v>1.487678</c:v>
                </c:pt>
                <c:pt idx="11">
                  <c:v>3.017037</c:v>
                </c:pt>
                <c:pt idx="12">
                  <c:v>1.230872</c:v>
                </c:pt>
                <c:pt idx="13">
                  <c:v>-2.081595</c:v>
                </c:pt>
                <c:pt idx="14">
                  <c:v>-3.185571</c:v>
                </c:pt>
                <c:pt idx="15">
                  <c:v>-3.158014</c:v>
                </c:pt>
                <c:pt idx="16">
                  <c:v>-3.409732</c:v>
                </c:pt>
                <c:pt idx="17">
                  <c:v>-0.595355</c:v>
                </c:pt>
                <c:pt idx="18">
                  <c:v>-4.506792</c:v>
                </c:pt>
                <c:pt idx="19">
                  <c:v>-3.463402</c:v>
                </c:pt>
                <c:pt idx="20">
                  <c:v>-4.012409</c:v>
                </c:pt>
                <c:pt idx="21">
                  <c:v>1.328194</c:v>
                </c:pt>
                <c:pt idx="22">
                  <c:v>1.680206</c:v>
                </c:pt>
                <c:pt idx="23">
                  <c:v>-0.487756</c:v>
                </c:pt>
                <c:pt idx="24">
                  <c:v>-1.510967</c:v>
                </c:pt>
                <c:pt idx="25">
                  <c:v>-2.227482</c:v>
                </c:pt>
                <c:pt idx="26">
                  <c:v>0.307318</c:v>
                </c:pt>
                <c:pt idx="27">
                  <c:v>-1.342856</c:v>
                </c:pt>
                <c:pt idx="28">
                  <c:v>-0.721579</c:v>
                </c:pt>
                <c:pt idx="29">
                  <c:v>-1.464194</c:v>
                </c:pt>
                <c:pt idx="30">
                  <c:v>-2.241529</c:v>
                </c:pt>
                <c:pt idx="31">
                  <c:v>-1.90472</c:v>
                </c:pt>
                <c:pt idx="32">
                  <c:v>0.027631</c:v>
                </c:pt>
                <c:pt idx="33">
                  <c:v>-4.132131</c:v>
                </c:pt>
                <c:pt idx="34">
                  <c:v>-1.301207</c:v>
                </c:pt>
                <c:pt idx="35">
                  <c:v>-0.345445</c:v>
                </c:pt>
                <c:pt idx="36">
                  <c:v>-1.589081</c:v>
                </c:pt>
                <c:pt idx="37">
                  <c:v>-0.049391</c:v>
                </c:pt>
                <c:pt idx="38">
                  <c:v>-3.135001</c:v>
                </c:pt>
                <c:pt idx="39">
                  <c:v>-2.295157</c:v>
                </c:pt>
                <c:pt idx="40">
                  <c:v>-2.391704</c:v>
                </c:pt>
                <c:pt idx="41">
                  <c:v>-1.700987</c:v>
                </c:pt>
                <c:pt idx="42">
                  <c:v>-0.725521</c:v>
                </c:pt>
                <c:pt idx="43">
                  <c:v>-0.705951</c:v>
                </c:pt>
                <c:pt idx="44">
                  <c:v>-1.398058</c:v>
                </c:pt>
                <c:pt idx="45">
                  <c:v>-0.211609</c:v>
                </c:pt>
                <c:pt idx="46">
                  <c:v>-2.272619</c:v>
                </c:pt>
                <c:pt idx="47">
                  <c:v>-1.532395</c:v>
                </c:pt>
                <c:pt idx="48">
                  <c:v>-1.383846</c:v>
                </c:pt>
              </c:numCache>
            </c:numRef>
          </c:xVal>
          <c:yVal>
            <c:numRef>
              <c:f>'Chart Data'!$J$2:$J$50</c:f>
              <c:numCache>
                <c:formatCode>0</c:formatCode>
                <c:ptCount val="49"/>
                <c:pt idx="0">
                  <c:v>0.74153</c:v>
                </c:pt>
                <c:pt idx="1">
                  <c:v>-1.121862</c:v>
                </c:pt>
                <c:pt idx="2">
                  <c:v>-2.270513</c:v>
                </c:pt>
                <c:pt idx="3">
                  <c:v>-2.212989</c:v>
                </c:pt>
                <c:pt idx="4">
                  <c:v>0.638634</c:v>
                </c:pt>
                <c:pt idx="5">
                  <c:v>0.27393</c:v>
                </c:pt>
                <c:pt idx="6">
                  <c:v>0.641614</c:v>
                </c:pt>
                <c:pt idx="7">
                  <c:v>-0.588991</c:v>
                </c:pt>
                <c:pt idx="8">
                  <c:v>0.024961</c:v>
                </c:pt>
                <c:pt idx="9">
                  <c:v>-0.616859</c:v>
                </c:pt>
                <c:pt idx="10">
                  <c:v>-1.917393</c:v>
                </c:pt>
                <c:pt idx="11">
                  <c:v>-2.100625</c:v>
                </c:pt>
                <c:pt idx="12">
                  <c:v>-1.025935</c:v>
                </c:pt>
                <c:pt idx="13">
                  <c:v>0.606535</c:v>
                </c:pt>
                <c:pt idx="14">
                  <c:v>0.777871</c:v>
                </c:pt>
                <c:pt idx="15">
                  <c:v>-1.061119</c:v>
                </c:pt>
                <c:pt idx="16">
                  <c:v>0.066496</c:v>
                </c:pt>
                <c:pt idx="17">
                  <c:v>-1.076538</c:v>
                </c:pt>
                <c:pt idx="18">
                  <c:v>-0.407051</c:v>
                </c:pt>
                <c:pt idx="19">
                  <c:v>-0.655168</c:v>
                </c:pt>
                <c:pt idx="20">
                  <c:v>-1.088566</c:v>
                </c:pt>
                <c:pt idx="21">
                  <c:v>-3.127363</c:v>
                </c:pt>
                <c:pt idx="22">
                  <c:v>-1.166619</c:v>
                </c:pt>
                <c:pt idx="23">
                  <c:v>-1.388631</c:v>
                </c:pt>
                <c:pt idx="24">
                  <c:v>-1.234049</c:v>
                </c:pt>
                <c:pt idx="25">
                  <c:v>-1.459369</c:v>
                </c:pt>
                <c:pt idx="26">
                  <c:v>-1.633008</c:v>
                </c:pt>
                <c:pt idx="27">
                  <c:v>-1.395625</c:v>
                </c:pt>
                <c:pt idx="28">
                  <c:v>-2.521333</c:v>
                </c:pt>
                <c:pt idx="29">
                  <c:v>-0.07719</c:v>
                </c:pt>
                <c:pt idx="30">
                  <c:v>0.643364</c:v>
                </c:pt>
                <c:pt idx="31">
                  <c:v>0.551116</c:v>
                </c:pt>
                <c:pt idx="32">
                  <c:v>-0.930482</c:v>
                </c:pt>
                <c:pt idx="33">
                  <c:v>-0.609549</c:v>
                </c:pt>
                <c:pt idx="34">
                  <c:v>-1.082599</c:v>
                </c:pt>
                <c:pt idx="35">
                  <c:v>-1.031843</c:v>
                </c:pt>
                <c:pt idx="36">
                  <c:v>-1.673268</c:v>
                </c:pt>
                <c:pt idx="37">
                  <c:v>-0.746369</c:v>
                </c:pt>
                <c:pt idx="38">
                  <c:v>0.54031</c:v>
                </c:pt>
                <c:pt idx="39">
                  <c:v>-2.130543</c:v>
                </c:pt>
                <c:pt idx="40">
                  <c:v>-2.178156</c:v>
                </c:pt>
                <c:pt idx="41">
                  <c:v>-0.156284</c:v>
                </c:pt>
                <c:pt idx="42">
                  <c:v>-0.388403</c:v>
                </c:pt>
                <c:pt idx="43">
                  <c:v>0.243949</c:v>
                </c:pt>
                <c:pt idx="44">
                  <c:v>0.410581</c:v>
                </c:pt>
                <c:pt idx="45">
                  <c:v>-0.770857</c:v>
                </c:pt>
                <c:pt idx="46">
                  <c:v>-0.058412</c:v>
                </c:pt>
                <c:pt idx="47">
                  <c:v>-1.048959</c:v>
                </c:pt>
                <c:pt idx="48">
                  <c:v>-0.911664</c:v>
                </c:pt>
              </c:numCache>
            </c:numRef>
          </c:yVal>
        </c:ser>
        <c:ser>
          <c:idx val="5"/>
          <c:order val="5"/>
          <c:tx>
            <c:v>Commins Mystery</c:v>
          </c:tx>
          <c:spPr>
            <a:solidFill xmlns:a="http://schemas.openxmlformats.org/drawingml/2006/main">
              <a:srgbClr val="3889AC"/>
            </a:solidFill>
            <a:ln xmlns:a="http://schemas.openxmlformats.org/drawingml/2006/main" w="0">
              <a:noFill/>
            </a:ln>
          </c:spPr>
          <c:marker>
            <c:symbol val="circle"/>
            <c:size val="12"/>
            <c:spPr>
              <a:noFill xmlns:a="http://schemas.openxmlformats.org/drawingml/2006/main"/>
            </c:spPr>
          </c:marker>
          <c:xVal>
            <c:numRef>
              <c:f>'Chart Data'!$K$2:$K$2</c:f>
              <c:numCache>
                <c:formatCode>General</c:formatCode>
                <c:ptCount val="1"/>
                <c:pt idx="0">
                  <c:v>-3.524924</c:v>
                </c:pt>
              </c:numCache>
            </c:numRef>
          </c:xVal>
          <c:yVal>
            <c:numRef>
              <c:f>'Chart Data'!$L$2:$L$2</c:f>
              <c:numCache>
                <c:formatCode>0</c:formatCode>
                <c:ptCount val="1"/>
                <c:pt idx="0">
                  <c:v>0.619636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PC2 (9.71 %)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PC1 (11.22 %)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47C9C"/>
            </a:solidFill>
          </c:spPr>
          <c:cat>
            <c:strRef>
              <c:f>'Chart Data'!$A$2:$A$5</c:f>
              <c:strCache>
                <c:ptCount val="4"/>
                <c:pt idx="0">
                  <c:v>Konstante Klasse</c:v>
                </c:pt>
                <c:pt idx="1">
                  <c:v>Stil: Nachbar</c:v>
                </c:pt>
                <c:pt idx="2">
                  <c:v>Stil: Zentrum</c:v>
                </c:pt>
                <c:pt idx="3">
                  <c:v>TF-IDF: Nachbar</c:v>
                </c:pt>
              </c:strCache>
            </c:strRef>
          </c:cat>
          <c:val>
            <c:numRef>
              <c:f>'Chart Data'!$B$2:$B$5</c:f>
              <c:numCache>
                <c:formatCode>0.0%</c:formatCode>
                <c:ptCount val="4"/>
                <c:pt idx="0">
                  <c:v>0.333333</c:v>
                </c:pt>
                <c:pt idx="1">
                  <c:v>0.693333</c:v>
                </c:pt>
                <c:pt idx="2">
                  <c:v>0.826667</c:v>
                </c:pt>
                <c:pt idx="3">
                  <c:v>0.913333</c:v>
                </c:pt>
              </c:numCache>
            </c:numRef>
          </c:val>
        </c:ser>
        <c:dLbls>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rial"/>
                <a:ea typeface="Arial"/>
                <a:cs typeface="Arial"/>
              </a:defRPr>
            </a:pPr>
          </a:p>
        </c:txPr>
        <c:crossAx val="48672768"/>
      </c:catAx>
      <c:valAx>
        <c:axId val="48672768"/>
        <c:scaling>
          <c:orientation val="minMax"/>
          <c:max val="1"/>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4BFDFF-C9CF-4F8B-BE02-A7EBA19CB83B}"/>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Autorschaftserkennung</a:t>
            </a:r>
          </a:p>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mit Stylometrie</a:t>
            </a:r>
          </a:p>
        </p:txBody>
      </p:sp>
      <p:sp>
        <p:nvSpPr>
          <p:cNvPr id="2" name="">
            <a:extLst xmlns:a="http://schemas.openxmlformats.org/drawingml/2006/main">
              <a:ext uri="{FF2B5EF4-FFF2-40B4-BE49-F238E27FC236}">
                <a16:creationId xmlns:a16="http://schemas.microsoft.com/office/drawing/2014/main" id="{0484E325-F13A-4437-8291-A48CE00CE949}"/>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F37D6ACA-DCEF-4CDC-B6FE-255EDBD6D3CC}"/>
              </a:ext>
            </a:extLst>
          </p:cNvPr>
          <p:cNvSpPr>
            <a:spLocks xmlns:a="http://schemas.openxmlformats.org/drawingml/2006/main" noGrp="1"/>
          </p:cNvSpPr>
          <p:nvPr/>
        </p:nvSpPr>
        <p:spPr>
          <a:xfrm xmlns:a="http://schemas.openxmlformats.org/drawingml/2006/main">
            <a:off x="714375" y="2762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247C9C"/>
                </a:solidFill>
                <a:latin typeface="Arial"/>
                <a:ea typeface="Arial"/>
                <a:cs typeface="Arial"/>
              </a:defRPr>
            </a:pPr>
            <a:r>
              <a:rPr sz="2700" b="0">
                <a:solidFill>
                  <a:srgbClr val="247C9C"/>
                </a:solidFill>
                <a:latin typeface="Arial"/>
                <a:ea typeface="Arial"/>
                <a:cs typeface="Arial"/>
              </a:rPr>
              <a:t>Reuters-Artikel von drei Autoren</a:t>
            </a:r>
          </a:p>
        </p:txBody>
      </p:sp>
      <p:sp>
        <p:nvSpPr>
          <p:cNvPr id="4" name="">
            <a:extLst xmlns:a="http://schemas.openxmlformats.org/drawingml/2006/main">
              <a:ext uri="{FF2B5EF4-FFF2-40B4-BE49-F238E27FC236}">
                <a16:creationId xmlns:a16="http://schemas.microsoft.com/office/drawing/2014/main" id="{BBA35B3D-3A88-4F07-BD83-B5228AEF1F5C}"/>
              </a:ext>
            </a:extLst>
          </p:cNvPr>
          <p:cNvSpPr>
            <a:spLocks xmlns:a="http://schemas.openxmlformats.org/drawingml/2006/main" noGrp="1"/>
          </p:cNvSpPr>
          <p:nvPr/>
        </p:nvSpPr>
        <p:spPr>
          <a:xfrm xmlns:a="http://schemas.openxmlformats.org/drawingml/2006/main">
            <a:off x="714375" y="438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3448"/>
                </a:solidFill>
                <a:latin typeface="Arial"/>
                <a:ea typeface="Arial"/>
                <a:cs typeface="Arial"/>
              </a:defRPr>
            </a:pPr>
            <a:r>
              <a:rPr sz="2250" b="1">
                <a:solidFill>
                  <a:srgbClr val="163448"/>
                </a:solidFill>
                <a:latin typeface="Arial"/>
                <a:ea typeface="Arial"/>
                <a:cs typeface="Arial"/>
              </a:rPr>
              <a:t>Jonaid Aydi und Kai S. Kurono</a:t>
            </a:r>
          </a:p>
        </p:txBody>
      </p:sp>
      <p:sp>
        <p:nvSpPr>
          <p:cNvPr id="5" name="">
            <a:extLst xmlns:a="http://schemas.openxmlformats.org/drawingml/2006/main">
              <a:ext uri="{FF2B5EF4-FFF2-40B4-BE49-F238E27FC236}">
                <a16:creationId xmlns:a16="http://schemas.microsoft.com/office/drawing/2014/main" id="{8D519802-0405-4EBE-8E23-2DBD66113B73}"/>
              </a:ext>
            </a:extLst>
          </p:cNvPr>
          <p:cNvSpPr>
            <a:spLocks xmlns:a="http://schemas.openxmlformats.org/drawingml/2006/main" noGrp="1"/>
          </p:cNvSpPr>
          <p:nvPr/>
        </p:nvSpPr>
        <p:spPr>
          <a:xfrm xmlns:a="http://schemas.openxmlformats.org/drawingml/2006/main">
            <a:off x="714375" y="5029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Advanced Python for NLP (2026)</a:t>
            </a:r>
          </a:p>
        </p:txBody>
      </p:sp>
    </p:spTree>
    <p:extLst>
      <p:ext uri="{BB962C8B-B14F-4D97-AF65-F5344CB8AC3E}">
        <p14:creationId xmlns:p14="http://schemas.microsoft.com/office/powerpoint/2010/main" val="13265372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8C10A0-2900-415A-9604-A2492FD0FA2E}"/>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Forschungsfrage</a:t>
            </a:r>
          </a:p>
        </p:txBody>
      </p:sp>
      <p:sp>
        <p:nvSpPr>
          <p:cNvPr id="2" name="">
            <a:extLst xmlns:a="http://schemas.openxmlformats.org/drawingml/2006/main">
              <a:ext uri="{FF2B5EF4-FFF2-40B4-BE49-F238E27FC236}">
                <a16:creationId xmlns:a16="http://schemas.microsoft.com/office/drawing/2014/main" id="{BCE1E5B0-15D3-47D9-AA87-04C74D7E1B91}"/>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A8160B22-0C3B-4EDB-9223-C65F38B0DEFE}"/>
              </a:ext>
            </a:extLst>
          </p:cNvPr>
          <p:cNvSpPr>
            <a:spLocks xmlns:a="http://schemas.openxmlformats.org/drawingml/2006/main" noGrp="1"/>
          </p:cNvSpPr>
          <p:nvPr/>
        </p:nvSpPr>
        <p:spPr>
          <a:xfrm xmlns:a="http://schemas.openxmlformats.org/drawingml/2006/main">
            <a:off x="714375" y="1762125"/>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63448"/>
                </a:solidFill>
                <a:latin typeface="Arial"/>
                <a:ea typeface="Arial"/>
                <a:cs typeface="Arial"/>
              </a:defRPr>
            </a:pPr>
            <a:r>
              <a:rPr sz="2475" b="0">
                <a:solidFill>
                  <a:srgbClr val="163448"/>
                </a:solidFill>
                <a:latin typeface="Arial"/>
                <a:ea typeface="Arial"/>
                <a:cs typeface="Arial"/>
              </a:rPr>
              <a:t>Wie gut unterscheiden Wort- und Stilmerkmale</a:t>
            </a:r>
          </a:p>
          <a:p xmlns:a="http://schemas.openxmlformats.org/drawingml/2006/main">
            <a:pPr>
              <a:defRPr sz="2475" b="0">
                <a:solidFill>
                  <a:srgbClr val="163448"/>
                </a:solidFill>
                <a:latin typeface="Arial"/>
                <a:ea typeface="Arial"/>
                <a:cs typeface="Arial"/>
              </a:defRPr>
            </a:pPr>
            <a:r>
              <a:rPr sz="2475" b="0">
                <a:solidFill>
                  <a:srgbClr val="163448"/>
                </a:solidFill>
                <a:latin typeface="Arial"/>
                <a:ea typeface="Arial"/>
                <a:cs typeface="Arial"/>
              </a:rPr>
              <a:t>die Artikel derselben drei Autoren?</a:t>
            </a:r>
          </a:p>
        </p:txBody>
      </p:sp>
      <p:sp>
        <p:nvSpPr>
          <p:cNvPr id="4" name="">
            <a:extLst xmlns:a="http://schemas.openxmlformats.org/drawingml/2006/main">
              <a:ext uri="{FF2B5EF4-FFF2-40B4-BE49-F238E27FC236}">
                <a16:creationId xmlns:a16="http://schemas.microsoft.com/office/drawing/2014/main" id="{6B58A961-C11D-4C63-932F-BADAD1CD6C49}"/>
              </a:ext>
            </a:extLst>
          </p:cNvPr>
          <p:cNvSpPr>
            <a:spLocks xmlns:a="http://schemas.openxmlformats.org/drawingml/2006/main" noGrp="1"/>
          </p:cNvSpPr>
          <p:nvPr/>
        </p:nvSpPr>
        <p:spPr>
          <a:xfrm xmlns:a="http://schemas.openxmlformats.org/drawingml/2006/main">
            <a:off x="714375" y="3095625"/>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63448"/>
                </a:solidFill>
                <a:latin typeface="Arial"/>
                <a:ea typeface="Arial"/>
                <a:cs typeface="Arial"/>
              </a:defRPr>
            </a:pPr>
            <a:r>
              <a:rPr sz="2475" b="0">
                <a:solidFill>
                  <a:srgbClr val="163448"/>
                </a:solidFill>
                <a:latin typeface="Arial"/>
                <a:ea typeface="Arial"/>
                <a:cs typeface="Arial"/>
              </a:rPr>
              <a:t>Vergleich auf identischen Referenz- und Testtexten</a:t>
            </a:r>
          </a:p>
        </p:txBody>
      </p:sp>
      <p:sp>
        <p:nvSpPr>
          <p:cNvPr id="5" name="">
            <a:extLst xmlns:a="http://schemas.openxmlformats.org/drawingml/2006/main">
              <a:ext uri="{FF2B5EF4-FFF2-40B4-BE49-F238E27FC236}">
                <a16:creationId xmlns:a16="http://schemas.microsoft.com/office/drawing/2014/main" id="{95EAE710-FF88-43DE-A1C6-19113ADCB2FB}"/>
              </a:ext>
            </a:extLst>
          </p:cNvPr>
          <p:cNvSpPr>
            <a:spLocks xmlns:a="http://schemas.openxmlformats.org/drawingml/2006/main" noGrp="1"/>
          </p:cNvSpPr>
          <p:nvPr/>
        </p:nvSpPr>
        <p:spPr>
          <a:xfrm xmlns:a="http://schemas.openxmlformats.org/drawingml/2006/main">
            <a:off x="714375" y="4429125"/>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63448"/>
                </a:solidFill>
                <a:latin typeface="Arial"/>
                <a:ea typeface="Arial"/>
                <a:cs typeface="Arial"/>
              </a:defRPr>
            </a:pPr>
            <a:r>
              <a:rPr sz="2475" b="0">
                <a:solidFill>
                  <a:srgbClr val="163448"/>
                </a:solidFill>
                <a:latin typeface="Arial"/>
                <a:ea typeface="Arial"/>
                <a:cs typeface="Arial"/>
              </a:rPr>
              <a:t>Themenunterschiede bleiben eine mögliche Erklärung</a:t>
            </a:r>
          </a:p>
        </p:txBody>
      </p:sp>
    </p:spTree>
    <p:extLst>
      <p:ext uri="{BB962C8B-B14F-4D97-AF65-F5344CB8AC3E}">
        <p14:creationId xmlns:p14="http://schemas.microsoft.com/office/powerpoint/2010/main" val="17783427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0A655F-9D50-46A4-B0CD-5A39A89A040A}"/>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Daten und Trennung der Textmengen</a:t>
            </a:r>
          </a:p>
        </p:txBody>
      </p:sp>
      <p:sp>
        <p:nvSpPr>
          <p:cNvPr id="2" name="">
            <a:extLst xmlns:a="http://schemas.openxmlformats.org/drawingml/2006/main">
              <a:ext uri="{FF2B5EF4-FFF2-40B4-BE49-F238E27FC236}">
                <a16:creationId xmlns:a16="http://schemas.microsoft.com/office/drawing/2014/main" id="{E27952D8-9961-4876-BFBE-ED771E23B9E1}"/>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3</a:t>
            </a:r>
          </a:p>
        </p:txBody>
      </p:sp>
      <p:graphicFrame>
        <p:nvGraphicFramePr>
          <p:cNvPr id="7" name=""/>
          <p:cNvGraphicFramePr/>
          <p:nvPr/>
        </p:nvGraphicFramePr>
        <p:xfrm>
          <a:off xmlns:a="http://schemas.openxmlformats.org/drawingml/2006/main" x="714375" y="1714500"/>
          <a:ext xmlns:a="http://schemas.openxmlformats.org/drawingml/2006/main" cx="10715625" cy="3143250"/>
        </p:xfrm>
        <a:graphic xmlns:a="http://schemas.openxmlformats.org/drawingml/2006/main">
          <a:graphicData uri="http://schemas.openxmlformats.org/drawingml/2006/table">
            <a:tbl>
              <a:tblPr/>
              <a:tblGrid>
                <a:gridCol w="4143375"/>
                <a:gridCol w="2190750"/>
                <a:gridCol w="2190750"/>
                <a:gridCol w="2190750"/>
              </a:tblGrid>
              <a:tr h="628650">
                <a:tc>
                  <a:txBody>
                    <a:bodyPr/>
                    <a:lstStyle/>
                    <a:p>
                      <a:r>
                        <a:rPr sz="1875" b="1">
                          <a:solidFill>
                            <a:srgbClr val="FFFFFF"/>
                          </a:solidFill>
                          <a:latin typeface="Arial"/>
                          <a:ea typeface="Arial"/>
                          <a:cs typeface="Arial"/>
                        </a:rPr>
                        <a:t>Autor</a:t>
                      </a:r>
                    </a:p>
                  </a:txBody>
                  <a:tcPr marL="91440" marR="91440" marT="45720" marB="45720">
                    <a:solidFill>
                      <a:srgbClr val="163448"/>
                    </a:solidFill>
                  </a:tcPr>
                </a:tc>
                <a:tc>
                  <a:txBody>
                    <a:bodyPr/>
                    <a:lstStyle/>
                    <a:p>
                      <a:r>
                        <a:rPr sz="1875" b="1">
                          <a:solidFill>
                            <a:srgbClr val="FFFFFF"/>
                          </a:solidFill>
                          <a:latin typeface="Arial"/>
                          <a:ea typeface="Arial"/>
                          <a:cs typeface="Arial"/>
                        </a:rPr>
                        <a:t>Referenz</a:t>
                      </a:r>
                    </a:p>
                  </a:txBody>
                  <a:tcPr marL="91440" marR="91440" marT="45720" marB="45720">
                    <a:solidFill>
                      <a:srgbClr val="163448"/>
                    </a:solidFill>
                  </a:tcPr>
                </a:tc>
                <a:tc>
                  <a:txBody>
                    <a:bodyPr/>
                    <a:lstStyle/>
                    <a:p>
                      <a:r>
                        <a:rPr sz="1875" b="1">
                          <a:solidFill>
                            <a:srgbClr val="FFFFFF"/>
                          </a:solidFill>
                          <a:latin typeface="Arial"/>
                          <a:ea typeface="Arial"/>
                          <a:cs typeface="Arial"/>
                        </a:rPr>
                        <a:t>Mystery</a:t>
                      </a:r>
                    </a:p>
                  </a:txBody>
                  <a:tcPr marL="91440" marR="91440" marT="45720" marB="45720">
                    <a:solidFill>
                      <a:srgbClr val="163448"/>
                    </a:solidFill>
                  </a:tcPr>
                </a:tc>
                <a:tc>
                  <a:txBody>
                    <a:bodyPr/>
                    <a:lstStyle/>
                    <a:p>
                      <a:r>
                        <a:rPr sz="1875" b="1">
                          <a:solidFill>
                            <a:srgbClr val="FFFFFF"/>
                          </a:solidFill>
                          <a:latin typeface="Arial"/>
                          <a:ea typeface="Arial"/>
                          <a:cs typeface="Arial"/>
                        </a:rPr>
                        <a:t>Test</a:t>
                      </a:r>
                    </a:p>
                  </a:txBody>
                  <a:tcPr marL="91440" marR="91440" marT="45720" marB="45720">
                    <a:solidFill>
                      <a:srgbClr val="163448"/>
                    </a:solidFill>
                  </a:tcPr>
                </a:tc>
              </a:tr>
              <a:tr h="628650">
                <a:tc>
                  <a:txBody>
                    <a:bodyPr/>
                    <a:lstStyle/>
                    <a:p>
                      <a:r>
                        <a:rPr sz="2025" b="0">
                          <a:solidFill>
                            <a:srgbClr val="163448"/>
                          </a:solidFill>
                          <a:latin typeface="Arial"/>
                          <a:ea typeface="Arial"/>
                          <a:cs typeface="Arial"/>
                        </a:rPr>
                        <a:t>William Kazer</a:t>
                      </a:r>
                    </a:p>
                  </a:txBody>
                  <a:tcPr marL="91440" marR="91440" marT="45720" marB="45720">
                    <a:solidFill>
                      <a:srgbClr val="FFFFFF"/>
                    </a:solidFill>
                  </a:tcPr>
                </a:tc>
                <a:tc>
                  <a:txBody>
                    <a:bodyPr/>
                    <a:lstStyle/>
                    <a:p>
                      <a:r>
                        <a:rPr sz="2025" b="0">
                          <a:solidFill>
                            <a:srgbClr val="163448"/>
                          </a:solidFill>
                          <a:latin typeface="Arial"/>
                          <a:ea typeface="Arial"/>
                          <a:cs typeface="Arial"/>
                        </a:rPr>
                        <a:t>49</a:t>
                      </a:r>
                    </a:p>
                  </a:txBody>
                  <a:tcPr marL="91440" marR="91440" marT="45720" marB="45720">
                    <a:solidFill>
                      <a:srgbClr val="FFFFFF"/>
                    </a:solidFill>
                  </a:tcPr>
                </a:tc>
                <a:tc>
                  <a:txBody>
                    <a:bodyPr/>
                    <a:lstStyle/>
                    <a:p>
                      <a:r>
                        <a:rPr sz="2025" b="0">
                          <a:solidFill>
                            <a:srgbClr val="163448"/>
                          </a:solidFill>
                          <a:latin typeface="Arial"/>
                          <a:ea typeface="Arial"/>
                          <a:cs typeface="Arial"/>
                        </a:rPr>
                        <a:t>1</a:t>
                      </a:r>
                    </a:p>
                  </a:txBody>
                  <a:tcPr marL="91440" marR="91440" marT="45720" marB="45720">
                    <a:solidFill>
                      <a:srgbClr val="FFFFFF"/>
                    </a:solidFill>
                  </a:tcPr>
                </a:tc>
                <a:tc>
                  <a:txBody>
                    <a:bodyPr/>
                    <a:lstStyle/>
                    <a:p>
                      <a:r>
                        <a:rPr sz="2025" b="0">
                          <a:solidFill>
                            <a:srgbClr val="163448"/>
                          </a:solidFill>
                          <a:latin typeface="Arial"/>
                          <a:ea typeface="Arial"/>
                          <a:cs typeface="Arial"/>
                        </a:rPr>
                        <a:t>50</a:t>
                      </a:r>
                    </a:p>
                  </a:txBody>
                  <a:tcPr marL="91440" marR="91440" marT="45720" marB="45720">
                    <a:solidFill>
                      <a:srgbClr val="FFFFFF"/>
                    </a:solidFill>
                  </a:tcPr>
                </a:tc>
              </a:tr>
              <a:tr h="628650">
                <a:tc>
                  <a:txBody>
                    <a:bodyPr/>
                    <a:lstStyle/>
                    <a:p>
                      <a:r>
                        <a:rPr sz="2025" b="0">
                          <a:solidFill>
                            <a:srgbClr val="163448"/>
                          </a:solidFill>
                          <a:latin typeface="Arial"/>
                          <a:ea typeface="Arial"/>
                          <a:cs typeface="Arial"/>
                        </a:rPr>
                        <a:t>Tim Farrand</a:t>
                      </a:r>
                    </a:p>
                  </a:txBody>
                  <a:tcPr marL="91440" marR="91440" marT="45720" marB="45720">
                    <a:solidFill>
                      <a:srgbClr val="F1F5F7"/>
                    </a:solidFill>
                  </a:tcPr>
                </a:tc>
                <a:tc>
                  <a:txBody>
                    <a:bodyPr/>
                    <a:lstStyle/>
                    <a:p>
                      <a:r>
                        <a:rPr sz="2025" b="0">
                          <a:solidFill>
                            <a:srgbClr val="163448"/>
                          </a:solidFill>
                          <a:latin typeface="Arial"/>
                          <a:ea typeface="Arial"/>
                          <a:cs typeface="Arial"/>
                        </a:rPr>
                        <a:t>49</a:t>
                      </a:r>
                    </a:p>
                  </a:txBody>
                  <a:tcPr marL="91440" marR="91440" marT="45720" marB="45720">
                    <a:solidFill>
                      <a:srgbClr val="F1F5F7"/>
                    </a:solidFill>
                  </a:tcPr>
                </a:tc>
                <a:tc>
                  <a:txBody>
                    <a:bodyPr/>
                    <a:lstStyle/>
                    <a:p>
                      <a:r>
                        <a:rPr sz="2025" b="0">
                          <a:solidFill>
                            <a:srgbClr val="163448"/>
                          </a:solidFill>
                          <a:latin typeface="Arial"/>
                          <a:ea typeface="Arial"/>
                          <a:cs typeface="Arial"/>
                        </a:rPr>
                        <a:t>1</a:t>
                      </a:r>
                    </a:p>
                  </a:txBody>
                  <a:tcPr marL="91440" marR="91440" marT="45720" marB="45720">
                    <a:solidFill>
                      <a:srgbClr val="F1F5F7"/>
                    </a:solidFill>
                  </a:tcPr>
                </a:tc>
                <a:tc>
                  <a:txBody>
                    <a:bodyPr/>
                    <a:lstStyle/>
                    <a:p>
                      <a:r>
                        <a:rPr sz="2025" b="0">
                          <a:solidFill>
                            <a:srgbClr val="163448"/>
                          </a:solidFill>
                          <a:latin typeface="Arial"/>
                          <a:ea typeface="Arial"/>
                          <a:cs typeface="Arial"/>
                        </a:rPr>
                        <a:t>50</a:t>
                      </a:r>
                    </a:p>
                  </a:txBody>
                  <a:tcPr marL="91440" marR="91440" marT="45720" marB="45720">
                    <a:solidFill>
                      <a:srgbClr val="F1F5F7"/>
                    </a:solidFill>
                  </a:tcPr>
                </a:tc>
              </a:tr>
              <a:tr h="628650">
                <a:tc>
                  <a:txBody>
                    <a:bodyPr/>
                    <a:lstStyle/>
                    <a:p>
                      <a:r>
                        <a:rPr sz="2025" b="0">
                          <a:solidFill>
                            <a:srgbClr val="163448"/>
                          </a:solidFill>
                          <a:latin typeface="Arial"/>
                          <a:ea typeface="Arial"/>
                          <a:cs typeface="Arial"/>
                        </a:rPr>
                        <a:t>Patricia Commins</a:t>
                      </a:r>
                    </a:p>
                  </a:txBody>
                  <a:tcPr marL="91440" marR="91440" marT="45720" marB="45720">
                    <a:solidFill>
                      <a:srgbClr val="FFFFFF"/>
                    </a:solidFill>
                  </a:tcPr>
                </a:tc>
                <a:tc>
                  <a:txBody>
                    <a:bodyPr/>
                    <a:lstStyle/>
                    <a:p>
                      <a:r>
                        <a:rPr sz="2025" b="0">
                          <a:solidFill>
                            <a:srgbClr val="163448"/>
                          </a:solidFill>
                          <a:latin typeface="Arial"/>
                          <a:ea typeface="Arial"/>
                          <a:cs typeface="Arial"/>
                        </a:rPr>
                        <a:t>49</a:t>
                      </a:r>
                    </a:p>
                  </a:txBody>
                  <a:tcPr marL="91440" marR="91440" marT="45720" marB="45720">
                    <a:solidFill>
                      <a:srgbClr val="FFFFFF"/>
                    </a:solidFill>
                  </a:tcPr>
                </a:tc>
                <a:tc>
                  <a:txBody>
                    <a:bodyPr/>
                    <a:lstStyle/>
                    <a:p>
                      <a:r>
                        <a:rPr sz="2025" b="0">
                          <a:solidFill>
                            <a:srgbClr val="163448"/>
                          </a:solidFill>
                          <a:latin typeface="Arial"/>
                          <a:ea typeface="Arial"/>
                          <a:cs typeface="Arial"/>
                        </a:rPr>
                        <a:t>1</a:t>
                      </a:r>
                    </a:p>
                  </a:txBody>
                  <a:tcPr marL="91440" marR="91440" marT="45720" marB="45720">
                    <a:solidFill>
                      <a:srgbClr val="FFFFFF"/>
                    </a:solidFill>
                  </a:tcPr>
                </a:tc>
                <a:tc>
                  <a:txBody>
                    <a:bodyPr/>
                    <a:lstStyle/>
                    <a:p>
                      <a:r>
                        <a:rPr sz="2025" b="0">
                          <a:solidFill>
                            <a:srgbClr val="163448"/>
                          </a:solidFill>
                          <a:latin typeface="Arial"/>
                          <a:ea typeface="Arial"/>
                          <a:cs typeface="Arial"/>
                        </a:rPr>
                        <a:t>50</a:t>
                      </a:r>
                    </a:p>
                  </a:txBody>
                  <a:tcPr marL="91440" marR="91440" marT="45720" marB="45720">
                    <a:solidFill>
                      <a:srgbClr val="FFFFFF"/>
                    </a:solidFill>
                  </a:tcPr>
                </a:tc>
              </a:tr>
              <a:tr h="628650">
                <a:tc>
                  <a:txBody>
                    <a:bodyPr/>
                    <a:lstStyle/>
                    <a:p>
                      <a:r>
                        <a:rPr sz="2025" b="0">
                          <a:solidFill>
                            <a:srgbClr val="163448"/>
                          </a:solidFill>
                          <a:latin typeface="Arial"/>
                          <a:ea typeface="Arial"/>
                          <a:cs typeface="Arial"/>
                        </a:rPr>
                        <a:t>Gesamt</a:t>
                      </a:r>
                    </a:p>
                  </a:txBody>
                  <a:tcPr marL="91440" marR="91440" marT="45720" marB="45720">
                    <a:solidFill>
                      <a:srgbClr val="F1F5F7"/>
                    </a:solidFill>
                  </a:tcPr>
                </a:tc>
                <a:tc>
                  <a:txBody>
                    <a:bodyPr/>
                    <a:lstStyle/>
                    <a:p>
                      <a:r>
                        <a:rPr sz="2025" b="0">
                          <a:solidFill>
                            <a:srgbClr val="163448"/>
                          </a:solidFill>
                          <a:latin typeface="Arial"/>
                          <a:ea typeface="Arial"/>
                          <a:cs typeface="Arial"/>
                        </a:rPr>
                        <a:t>147</a:t>
                      </a:r>
                    </a:p>
                  </a:txBody>
                  <a:tcPr marL="91440" marR="91440" marT="45720" marB="45720">
                    <a:solidFill>
                      <a:srgbClr val="F1F5F7"/>
                    </a:solidFill>
                  </a:tcPr>
                </a:tc>
                <a:tc>
                  <a:txBody>
                    <a:bodyPr/>
                    <a:lstStyle/>
                    <a:p>
                      <a:r>
                        <a:rPr sz="2025" b="0">
                          <a:solidFill>
                            <a:srgbClr val="163448"/>
                          </a:solidFill>
                          <a:latin typeface="Arial"/>
                          <a:ea typeface="Arial"/>
                          <a:cs typeface="Arial"/>
                        </a:rPr>
                        <a:t>3</a:t>
                      </a:r>
                    </a:p>
                  </a:txBody>
                  <a:tcPr marL="91440" marR="91440" marT="45720" marB="45720">
                    <a:solidFill>
                      <a:srgbClr val="F1F5F7"/>
                    </a:solidFill>
                  </a:tcPr>
                </a:tc>
                <a:tc>
                  <a:txBody>
                    <a:bodyPr/>
                    <a:lstStyle/>
                    <a:p>
                      <a:r>
                        <a:rPr sz="2025" b="0">
                          <a:solidFill>
                            <a:srgbClr val="163448"/>
                          </a:solidFill>
                          <a:latin typeface="Arial"/>
                          <a:ea typeface="Arial"/>
                          <a:cs typeface="Arial"/>
                        </a:rPr>
                        <a:t>150</a:t>
                      </a:r>
                    </a:p>
                  </a:txBody>
                  <a:tcPr marL="91440" marR="91440" marT="45720" marB="45720">
                    <a:solidFill>
                      <a:srgbClr val="F1F5F7"/>
                    </a:solidFill>
                  </a:tcPr>
                </a:tc>
              </a:tr>
            </a:tbl>
          </a:graphicData>
        </a:graphic>
      </p:graphicFrame>
      <p:sp>
        <p:nvSpPr>
          <p:cNvPr id="4" name="">
            <a:extLst xmlns:a="http://schemas.openxmlformats.org/drawingml/2006/main">
              <a:ext uri="{FF2B5EF4-FFF2-40B4-BE49-F238E27FC236}">
                <a16:creationId xmlns:a16="http://schemas.microsoft.com/office/drawing/2014/main" id="{A386B6CC-0F40-4210-868F-B1529AEB4CBB}"/>
              </a:ext>
            </a:extLst>
          </p:cNvPr>
          <p:cNvSpPr>
            <a:spLocks xmlns:a="http://schemas.openxmlformats.org/drawingml/2006/main" noGrp="1"/>
          </p:cNvSpPr>
          <p:nvPr/>
        </p:nvSpPr>
        <p:spPr>
          <a:xfrm xmlns:a="http://schemas.openxmlformats.org/drawingml/2006/main">
            <a:off x="714375" y="53340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7C9C"/>
                </a:solidFill>
                <a:latin typeface="Arial"/>
                <a:ea typeface="Arial"/>
                <a:cs typeface="Arial"/>
              </a:defRPr>
            </a:pPr>
            <a:r>
              <a:rPr sz="2175" b="1">
                <a:solidFill>
                  <a:srgbClr val="247C9C"/>
                </a:solidFill>
                <a:latin typeface="Arial"/>
                <a:ea typeface="Arial"/>
                <a:cs typeface="Arial"/>
              </a:rPr>
              <a:t>Vokabular, Skalierung und PCA lernen nur aus der Referenz.</a:t>
            </a:r>
          </a:p>
        </p:txBody>
      </p:sp>
    </p:spTree>
    <p:extLst>
      <p:ext uri="{BB962C8B-B14F-4D97-AF65-F5344CB8AC3E}">
        <p14:creationId xmlns:p14="http://schemas.microsoft.com/office/powerpoint/2010/main" val="19617414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F44415-821C-4621-8509-09BD9051B050}"/>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Wortrepräsentation mit TF-IDF</a:t>
            </a:r>
          </a:p>
        </p:txBody>
      </p:sp>
      <p:sp>
        <p:nvSpPr>
          <p:cNvPr id="2" name="">
            <a:extLst xmlns:a="http://schemas.openxmlformats.org/drawingml/2006/main">
              <a:ext uri="{FF2B5EF4-FFF2-40B4-BE49-F238E27FC236}">
                <a16:creationId xmlns:a16="http://schemas.microsoft.com/office/drawing/2014/main" id="{CBE99FA3-62EA-4EDE-9719-3FB343699484}"/>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1C1704CE-AF70-4EDD-B5C6-332138460455}"/>
              </a:ext>
            </a:extLst>
          </p:cNvPr>
          <p:cNvSpPr>
            <a:spLocks xmlns:a="http://schemas.openxmlformats.org/drawingml/2006/main" noGrp="1"/>
          </p:cNvSpPr>
          <p:nvPr/>
        </p:nvSpPr>
        <p:spPr>
          <a:xfrm xmlns:a="http://schemas.openxmlformats.org/drawingml/2006/main">
            <a:off x="714375" y="16192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448"/>
                </a:solidFill>
                <a:latin typeface="Arial"/>
                <a:ea typeface="Arial"/>
                <a:cs typeface="Arial"/>
              </a:defRPr>
            </a:pPr>
            <a:r>
              <a:rPr sz="2250" b="0">
                <a:solidFill>
                  <a:srgbClr val="163448"/>
                </a:solidFill>
                <a:latin typeface="Arial"/>
                <a:ea typeface="Arial"/>
                <a:cs typeface="Arial"/>
              </a:rPr>
              <a:t>Snowball-Stemming und Wortfolgen der Längen 1 bis 3</a:t>
            </a:r>
          </a:p>
        </p:txBody>
      </p:sp>
      <p:sp>
        <p:nvSpPr>
          <p:cNvPr id="4" name="">
            <a:extLst xmlns:a="http://schemas.openxmlformats.org/drawingml/2006/main">
              <a:ext uri="{FF2B5EF4-FFF2-40B4-BE49-F238E27FC236}">
                <a16:creationId xmlns:a16="http://schemas.microsoft.com/office/drawing/2014/main" id="{7F378952-B10A-4B11-B293-DD4124020B74}"/>
              </a:ext>
            </a:extLst>
          </p:cNvPr>
          <p:cNvSpPr>
            <a:spLocks xmlns:a="http://schemas.openxmlformats.org/drawingml/2006/main" noGrp="1"/>
          </p:cNvSpPr>
          <p:nvPr/>
        </p:nvSpPr>
        <p:spPr>
          <a:xfrm xmlns:a="http://schemas.openxmlformats.org/drawingml/2006/main">
            <a:off x="714375" y="26670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448"/>
                </a:solidFill>
                <a:latin typeface="Arial"/>
                <a:ea typeface="Arial"/>
                <a:cs typeface="Arial"/>
              </a:defRPr>
            </a:pPr>
            <a:r>
              <a:rPr sz="2250" b="0">
                <a:solidFill>
                  <a:srgbClr val="163448"/>
                </a:solidFill>
                <a:latin typeface="Arial"/>
                <a:ea typeface="Arial"/>
                <a:cs typeface="Arial"/>
              </a:rPr>
              <a:t>1.000 Merkmale: 832 Unigramme, 151 Bigramme, 17 Trigramme</a:t>
            </a:r>
          </a:p>
        </p:txBody>
      </p:sp>
      <p:sp>
        <p:nvSpPr>
          <p:cNvPr id="5" name="">
            <a:extLst xmlns:a="http://schemas.openxmlformats.org/drawingml/2006/main">
              <a:ext uri="{FF2B5EF4-FFF2-40B4-BE49-F238E27FC236}">
                <a16:creationId xmlns:a16="http://schemas.microsoft.com/office/drawing/2014/main" id="{A1C6AECE-D557-46B2-AB8E-6ED2FCA09377}"/>
              </a:ext>
            </a:extLst>
          </p:cNvPr>
          <p:cNvSpPr>
            <a:spLocks xmlns:a="http://schemas.openxmlformats.org/drawingml/2006/main" noGrp="1"/>
          </p:cNvSpPr>
          <p:nvPr/>
        </p:nvSpPr>
        <p:spPr>
          <a:xfrm xmlns:a="http://schemas.openxmlformats.org/drawingml/2006/main">
            <a:off x="714375" y="3714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448"/>
                </a:solidFill>
                <a:latin typeface="Arial"/>
                <a:ea typeface="Arial"/>
                <a:cs typeface="Arial"/>
              </a:defRPr>
            </a:pPr>
            <a:r>
              <a:rPr sz="2250" b="0">
                <a:solidFill>
                  <a:srgbClr val="163448"/>
                </a:solidFill>
                <a:latin typeface="Arial"/>
                <a:ea typeface="Arial"/>
                <a:cs typeface="Arial"/>
              </a:rPr>
              <a:t>Nächster Referenzartikel bestimmt den vorhergesagten Autor</a:t>
            </a:r>
          </a:p>
        </p:txBody>
      </p:sp>
      <p:sp>
        <p:nvSpPr>
          <p:cNvPr id="6" name="">
            <a:extLst xmlns:a="http://schemas.openxmlformats.org/drawingml/2006/main">
              <a:ext uri="{FF2B5EF4-FFF2-40B4-BE49-F238E27FC236}">
                <a16:creationId xmlns:a16="http://schemas.microsoft.com/office/drawing/2014/main" id="{9CE6AE20-CA9F-4C8E-8C0C-6B00F8E16F0A}"/>
              </a:ext>
            </a:extLst>
          </p:cNvPr>
          <p:cNvSpPr>
            <a:spLocks xmlns:a="http://schemas.openxmlformats.org/drawingml/2006/main" noGrp="1"/>
          </p:cNvSpPr>
          <p:nvPr/>
        </p:nvSpPr>
        <p:spPr>
          <a:xfrm xmlns:a="http://schemas.openxmlformats.org/drawingml/2006/main">
            <a:off x="714375" y="47625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448"/>
                </a:solidFill>
                <a:latin typeface="Arial"/>
                <a:ea typeface="Arial"/>
                <a:cs typeface="Arial"/>
              </a:defRPr>
            </a:pPr>
            <a:r>
              <a:rPr sz="2250" b="0">
                <a:solidFill>
                  <a:srgbClr val="163448"/>
                </a:solidFill>
                <a:latin typeface="Arial"/>
                <a:ea typeface="Arial"/>
                <a:cs typeface="Arial"/>
              </a:rPr>
              <a:t>Hohe Gewichte: china, million und adm</a:t>
            </a:r>
          </a:p>
        </p:txBody>
      </p:sp>
    </p:spTree>
    <p:extLst>
      <p:ext uri="{BB962C8B-B14F-4D97-AF65-F5344CB8AC3E}">
        <p14:creationId xmlns:p14="http://schemas.microsoft.com/office/powerpoint/2010/main" val="21070089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19DF7A-9B24-44AC-9BA1-CD544DB1A2CA}"/>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Explizite Stilmerkmale</a:t>
            </a:r>
          </a:p>
        </p:txBody>
      </p:sp>
      <p:sp>
        <p:nvSpPr>
          <p:cNvPr id="2" name="">
            <a:extLst xmlns:a="http://schemas.openxmlformats.org/drawingml/2006/main">
              <a:ext uri="{FF2B5EF4-FFF2-40B4-BE49-F238E27FC236}">
                <a16:creationId xmlns:a16="http://schemas.microsoft.com/office/drawing/2014/main" id="{452809A0-459D-4B72-A885-2A6468FC5AB3}"/>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5</a:t>
            </a:r>
          </a:p>
        </p:txBody>
      </p:sp>
      <p:graphicFrame>
        <p:nvGraphicFramePr>
          <p:cNvPr id="8" name=""/>
          <p:cNvGraphicFramePr/>
          <p:nvPr/>
        </p:nvGraphicFramePr>
        <p:xfrm>
          <a:off xmlns:a="http://schemas.openxmlformats.org/drawingml/2006/main" x="714375" y="1714500"/>
          <a:ext xmlns:a="http://schemas.openxmlformats.org/drawingml/2006/main" cx="10715625" cy="2857500"/>
        </p:xfrm>
        <a:graphic xmlns:a="http://schemas.openxmlformats.org/drawingml/2006/main">
          <a:graphicData uri="http://schemas.openxmlformats.org/drawingml/2006/table">
            <a:tbl>
              <a:tblPr/>
              <a:tblGrid>
                <a:gridCol w="3143250"/>
                <a:gridCol w="1428750"/>
                <a:gridCol w="6143625"/>
              </a:tblGrid>
              <a:tr h="714375">
                <a:tc>
                  <a:txBody>
                    <a:bodyPr/>
                    <a:lstStyle/>
                    <a:p>
                      <a:r>
                        <a:rPr sz="1875" b="1">
                          <a:solidFill>
                            <a:srgbClr val="FFFFFF"/>
                          </a:solidFill>
                          <a:latin typeface="Arial"/>
                          <a:ea typeface="Arial"/>
                          <a:cs typeface="Arial"/>
                        </a:rPr>
                        <a:t>Gruppe</a:t>
                      </a:r>
                    </a:p>
                  </a:txBody>
                  <a:tcPr marL="91440" marR="91440" marT="45720" marB="45720">
                    <a:solidFill>
                      <a:srgbClr val="163448"/>
                    </a:solidFill>
                  </a:tcPr>
                </a:tc>
                <a:tc>
                  <a:txBody>
                    <a:bodyPr/>
                    <a:lstStyle/>
                    <a:p>
                      <a:r>
                        <a:rPr sz="1875" b="1">
                          <a:solidFill>
                            <a:srgbClr val="FFFFFF"/>
                          </a:solidFill>
                          <a:latin typeface="Arial"/>
                          <a:ea typeface="Arial"/>
                          <a:cs typeface="Arial"/>
                        </a:rPr>
                        <a:t>Anzahl</a:t>
                      </a:r>
                    </a:p>
                  </a:txBody>
                  <a:tcPr marL="91440" marR="91440" marT="45720" marB="45720">
                    <a:solidFill>
                      <a:srgbClr val="163448"/>
                    </a:solidFill>
                  </a:tcPr>
                </a:tc>
                <a:tc>
                  <a:txBody>
                    <a:bodyPr/>
                    <a:lstStyle/>
                    <a:p>
                      <a:r>
                        <a:rPr sz="1875" b="1">
                          <a:solidFill>
                            <a:srgbClr val="FFFFFF"/>
                          </a:solidFill>
                          <a:latin typeface="Arial"/>
                          <a:ea typeface="Arial"/>
                          <a:cs typeface="Arial"/>
                        </a:rPr>
                        <a:t>Beispiele</a:t>
                      </a:r>
                    </a:p>
                  </a:txBody>
                  <a:tcPr marL="91440" marR="91440" marT="45720" marB="45720">
                    <a:solidFill>
                      <a:srgbClr val="163448"/>
                    </a:solidFill>
                  </a:tcPr>
                </a:tc>
              </a:tr>
              <a:tr h="714375">
                <a:tc>
                  <a:txBody>
                    <a:bodyPr/>
                    <a:lstStyle/>
                    <a:p>
                      <a:r>
                        <a:rPr sz="2025" b="0">
                          <a:solidFill>
                            <a:srgbClr val="163448"/>
                          </a:solidFill>
                          <a:latin typeface="Arial"/>
                          <a:ea typeface="Arial"/>
                          <a:cs typeface="Arial"/>
                        </a:rPr>
                        <a:t>Oberflächenmaße</a:t>
                      </a:r>
                    </a:p>
                  </a:txBody>
                  <a:tcPr marL="91440" marR="91440" marT="45720" marB="45720">
                    <a:solidFill>
                      <a:srgbClr val="FFFFFF"/>
                    </a:solidFill>
                  </a:tcPr>
                </a:tc>
                <a:tc>
                  <a:txBody>
                    <a:bodyPr/>
                    <a:lstStyle/>
                    <a:p>
                      <a:r>
                        <a:rPr sz="2025" b="0">
                          <a:solidFill>
                            <a:srgbClr val="163448"/>
                          </a:solidFill>
                          <a:latin typeface="Arial"/>
                          <a:ea typeface="Arial"/>
                          <a:cs typeface="Arial"/>
                        </a:rPr>
                        <a:t>5</a:t>
                      </a:r>
                    </a:p>
                  </a:txBody>
                  <a:tcPr marL="91440" marR="91440" marT="45720" marB="45720">
                    <a:solidFill>
                      <a:srgbClr val="FFFFFF"/>
                    </a:solidFill>
                  </a:tcPr>
                </a:tc>
                <a:tc>
                  <a:txBody>
                    <a:bodyPr/>
                    <a:lstStyle/>
                    <a:p>
                      <a:r>
                        <a:rPr sz="2025" b="0">
                          <a:solidFill>
                            <a:srgbClr val="163448"/>
                          </a:solidFill>
                          <a:latin typeface="Arial"/>
                          <a:ea typeface="Arial"/>
                          <a:cs typeface="Arial"/>
                        </a:rPr>
                        <a:t>Satzlänge, Wortlänge, Type-Token-Ratio</a:t>
                      </a:r>
                    </a:p>
                  </a:txBody>
                  <a:tcPr marL="91440" marR="91440" marT="45720" marB="45720">
                    <a:solidFill>
                      <a:srgbClr val="FFFFFF"/>
                    </a:solidFill>
                  </a:tcPr>
                </a:tc>
              </a:tr>
              <a:tr h="714375">
                <a:tc>
                  <a:txBody>
                    <a:bodyPr/>
                    <a:lstStyle/>
                    <a:p>
                      <a:r>
                        <a:rPr sz="2025" b="0">
                          <a:solidFill>
                            <a:srgbClr val="163448"/>
                          </a:solidFill>
                          <a:latin typeface="Arial"/>
                          <a:ea typeface="Arial"/>
                          <a:cs typeface="Arial"/>
                        </a:rPr>
                        <a:t>Funktionswörter</a:t>
                      </a:r>
                    </a:p>
                  </a:txBody>
                  <a:tcPr marL="91440" marR="91440" marT="45720" marB="45720">
                    <a:solidFill>
                      <a:srgbClr val="F1F5F7"/>
                    </a:solidFill>
                  </a:tcPr>
                </a:tc>
                <a:tc>
                  <a:txBody>
                    <a:bodyPr/>
                    <a:lstStyle/>
                    <a:p>
                      <a:r>
                        <a:rPr sz="2025" b="0">
                          <a:solidFill>
                            <a:srgbClr val="163448"/>
                          </a:solidFill>
                          <a:latin typeface="Arial"/>
                          <a:ea typeface="Arial"/>
                          <a:cs typeface="Arial"/>
                        </a:rPr>
                        <a:t>15</a:t>
                      </a:r>
                    </a:p>
                  </a:txBody>
                  <a:tcPr marL="91440" marR="91440" marT="45720" marB="45720">
                    <a:solidFill>
                      <a:srgbClr val="F1F5F7"/>
                    </a:solidFill>
                  </a:tcPr>
                </a:tc>
                <a:tc>
                  <a:txBody>
                    <a:bodyPr/>
                    <a:lstStyle/>
                    <a:p>
                      <a:r>
                        <a:rPr sz="2025" b="0">
                          <a:solidFill>
                            <a:srgbClr val="163448"/>
                          </a:solidFill>
                          <a:latin typeface="Arial"/>
                          <a:ea typeface="Arial"/>
                          <a:cs typeface="Arial"/>
                        </a:rPr>
                        <a:t>and, of, the, to, with</a:t>
                      </a:r>
                    </a:p>
                  </a:txBody>
                  <a:tcPr marL="91440" marR="91440" marT="45720" marB="45720">
                    <a:solidFill>
                      <a:srgbClr val="F1F5F7"/>
                    </a:solidFill>
                  </a:tcPr>
                </a:tc>
              </a:tr>
              <a:tr h="714375">
                <a:tc>
                  <a:txBody>
                    <a:bodyPr/>
                    <a:lstStyle/>
                    <a:p>
                      <a:r>
                        <a:rPr sz="2025" b="0">
                          <a:solidFill>
                            <a:srgbClr val="163448"/>
                          </a:solidFill>
                          <a:latin typeface="Arial"/>
                          <a:ea typeface="Arial"/>
                          <a:cs typeface="Arial"/>
                        </a:rPr>
                        <a:t>Satzzeichen</a:t>
                      </a:r>
                    </a:p>
                  </a:txBody>
                  <a:tcPr marL="91440" marR="91440" marT="45720" marB="45720">
                    <a:solidFill>
                      <a:srgbClr val="FFFFFF"/>
                    </a:solidFill>
                  </a:tcPr>
                </a:tc>
                <a:tc>
                  <a:txBody>
                    <a:bodyPr/>
                    <a:lstStyle/>
                    <a:p>
                      <a:r>
                        <a:rPr sz="2025" b="0">
                          <a:solidFill>
                            <a:srgbClr val="163448"/>
                          </a:solidFill>
                          <a:latin typeface="Arial"/>
                          <a:ea typeface="Arial"/>
                          <a:cs typeface="Arial"/>
                        </a:rPr>
                        <a:t>6</a:t>
                      </a:r>
                    </a:p>
                  </a:txBody>
                  <a:tcPr marL="91440" marR="91440" marT="45720" marB="45720">
                    <a:solidFill>
                      <a:srgbClr val="FFFFFF"/>
                    </a:solidFill>
                  </a:tcPr>
                </a:tc>
                <a:tc>
                  <a:txBody>
                    <a:bodyPr/>
                    <a:lstStyle/>
                    <a:p>
                      <a:r>
                        <a:rPr sz="2025" b="0">
                          <a:solidFill>
                            <a:srgbClr val="163448"/>
                          </a:solidFill>
                          <a:latin typeface="Arial"/>
                          <a:ea typeface="Arial"/>
                          <a:cs typeface="Arial"/>
                        </a:rPr>
                        <a:t>Komma, Punkt, Doppelpunkt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2B23C71-D436-4C11-8D35-9FAA3F5FF994}"/>
              </a:ext>
            </a:extLst>
          </p:cNvPr>
          <p:cNvSpPr>
            <a:spLocks xmlns:a="http://schemas.openxmlformats.org/drawingml/2006/main" noGrp="1"/>
          </p:cNvSpPr>
          <p:nvPr/>
        </p:nvSpPr>
        <p:spPr>
          <a:xfrm xmlns:a="http://schemas.openxmlformats.org/drawingml/2006/main">
            <a:off x="714375" y="5143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7C9C"/>
                </a:solidFill>
                <a:latin typeface="Arial"/>
                <a:ea typeface="Arial"/>
                <a:cs typeface="Arial"/>
              </a:defRPr>
            </a:pPr>
            <a:r>
              <a:rPr sz="2550" b="1">
                <a:solidFill>
                  <a:srgbClr val="247C9C"/>
                </a:solidFill>
                <a:latin typeface="Arial"/>
                <a:ea typeface="Arial"/>
                <a:cs typeface="Arial"/>
              </a:rPr>
              <a:t>26 Ausgangsmerkmale, 25 variable Merkmale</a:t>
            </a:r>
          </a:p>
        </p:txBody>
      </p:sp>
      <p:sp>
        <p:nvSpPr>
          <p:cNvPr id="5" name="">
            <a:extLst xmlns:a="http://schemas.openxmlformats.org/drawingml/2006/main">
              <a:ext uri="{FF2B5EF4-FFF2-40B4-BE49-F238E27FC236}">
                <a16:creationId xmlns:a16="http://schemas.microsoft.com/office/drawing/2014/main" id="{FBD4BA3E-E4A5-40F5-81C3-E7C78F228B39}"/>
              </a:ext>
            </a:extLst>
          </p:cNvPr>
          <p:cNvSpPr>
            <a:spLocks xmlns:a="http://schemas.openxmlformats.org/drawingml/2006/main" noGrp="1"/>
          </p:cNvSpPr>
          <p:nvPr/>
        </p:nvSpPr>
        <p:spPr>
          <a:xfrm xmlns:a="http://schemas.openxmlformats.org/drawingml/2006/main">
            <a:off x="714375" y="56959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16B"/>
                </a:solidFill>
                <a:latin typeface="Arial"/>
                <a:ea typeface="Arial"/>
                <a:cs typeface="Arial"/>
              </a:defRPr>
            </a:pPr>
            <a:r>
              <a:rPr sz="1950" b="0">
                <a:solidFill>
                  <a:srgbClr val="52616B"/>
                </a:solidFill>
                <a:latin typeface="Arial"/>
                <a:ea typeface="Arial"/>
                <a:cs typeface="Arial"/>
              </a:rPr>
              <a:t>Standardisierung ausschließlich mit den 147 Referenztexten</a:t>
            </a:r>
          </a:p>
        </p:txBody>
      </p:sp>
    </p:spTree>
    <p:extLst>
      <p:ext uri="{BB962C8B-B14F-4D97-AF65-F5344CB8AC3E}">
        <p14:creationId xmlns:p14="http://schemas.microsoft.com/office/powerpoint/2010/main" val="14637267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D78C9E-EFF4-4F35-A913-D21DB6DC1A64}"/>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Einzelner Nachbar oder Autorenzentrum</a:t>
            </a:r>
          </a:p>
        </p:txBody>
      </p:sp>
      <p:sp>
        <p:nvSpPr>
          <p:cNvPr id="2" name="">
            <a:extLst xmlns:a="http://schemas.openxmlformats.org/drawingml/2006/main">
              <a:ext uri="{FF2B5EF4-FFF2-40B4-BE49-F238E27FC236}">
                <a16:creationId xmlns:a16="http://schemas.microsoft.com/office/drawing/2014/main" id="{F5C1C289-AE34-46D8-925F-D23A2847C3E0}"/>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5315D0D4-469E-4AE5-B6B6-155F125109EB}"/>
              </a:ext>
            </a:extLst>
          </p:cNvPr>
          <p:cNvSpPr>
            <a:spLocks xmlns:a="http://schemas.openxmlformats.org/drawingml/2006/main" noGrp="1"/>
          </p:cNvSpPr>
          <p:nvPr/>
        </p:nvSpPr>
        <p:spPr>
          <a:xfrm xmlns:a="http://schemas.openxmlformats.org/drawingml/2006/main">
            <a:off x="714375" y="18573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63448"/>
                </a:solidFill>
                <a:latin typeface="Arial"/>
                <a:ea typeface="Arial"/>
                <a:cs typeface="Arial"/>
              </a:defRPr>
            </a:pPr>
            <a:r>
              <a:rPr sz="2625" b="1">
                <a:solidFill>
                  <a:srgbClr val="163448"/>
                </a:solidFill>
                <a:latin typeface="Arial"/>
                <a:ea typeface="Arial"/>
                <a:cs typeface="Arial"/>
              </a:rPr>
              <a:t>Nächster Nachbar</a:t>
            </a:r>
          </a:p>
        </p:txBody>
      </p:sp>
      <p:sp>
        <p:nvSpPr>
          <p:cNvPr id="4" name="">
            <a:extLst xmlns:a="http://schemas.openxmlformats.org/drawingml/2006/main">
              <a:ext uri="{FF2B5EF4-FFF2-40B4-BE49-F238E27FC236}">
                <a16:creationId xmlns:a16="http://schemas.microsoft.com/office/drawing/2014/main" id="{EB348516-D268-4819-837F-86CD5F6AD6A2}"/>
              </a:ext>
            </a:extLst>
          </p:cNvPr>
          <p:cNvSpPr>
            <a:spLocks xmlns:a="http://schemas.openxmlformats.org/drawingml/2006/main" noGrp="1"/>
          </p:cNvSpPr>
          <p:nvPr/>
        </p:nvSpPr>
        <p:spPr>
          <a:xfrm xmlns:a="http://schemas.openxmlformats.org/drawingml/2006/main">
            <a:off x="714375" y="2667000"/>
            <a:ext cx="4905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63448"/>
                </a:solidFill>
                <a:latin typeface="Arial"/>
                <a:ea typeface="Arial"/>
                <a:cs typeface="Arial"/>
              </a:defRPr>
            </a:pPr>
            <a:r>
              <a:rPr sz="2550" b="0">
                <a:solidFill>
                  <a:srgbClr val="163448"/>
                </a:solidFill>
                <a:latin typeface="Arial"/>
                <a:ea typeface="Arial"/>
                <a:cs typeface="Arial"/>
              </a:rPr>
              <a:t>Vergleich mit jedem der</a:t>
            </a:r>
          </a:p>
          <a:p xmlns:a="http://schemas.openxmlformats.org/drawingml/2006/main">
            <a:pPr>
              <a:defRPr sz="2550" b="0">
                <a:solidFill>
                  <a:srgbClr val="163448"/>
                </a:solidFill>
                <a:latin typeface="Arial"/>
                <a:ea typeface="Arial"/>
                <a:cs typeface="Arial"/>
              </a:defRPr>
            </a:pPr>
            <a:r>
              <a:rPr sz="2550" b="0">
                <a:solidFill>
                  <a:srgbClr val="163448"/>
                </a:solidFill>
                <a:latin typeface="Arial"/>
                <a:ea typeface="Arial"/>
                <a:cs typeface="Arial"/>
              </a:rPr>
              <a:t>147 Referenzartikel</a:t>
            </a:r>
          </a:p>
        </p:txBody>
      </p:sp>
      <p:sp>
        <p:nvSpPr>
          <p:cNvPr id="5" name="">
            <a:extLst xmlns:a="http://schemas.openxmlformats.org/drawingml/2006/main">
              <a:ext uri="{FF2B5EF4-FFF2-40B4-BE49-F238E27FC236}">
                <a16:creationId xmlns:a16="http://schemas.microsoft.com/office/drawing/2014/main" id="{93EB35AC-655F-4665-B01B-0563CF59BC62}"/>
              </a:ext>
            </a:extLst>
          </p:cNvPr>
          <p:cNvSpPr>
            <a:spLocks xmlns:a="http://schemas.openxmlformats.org/drawingml/2006/main" noGrp="1"/>
          </p:cNvSpPr>
          <p:nvPr/>
        </p:nvSpPr>
        <p:spPr>
          <a:xfrm xmlns:a="http://schemas.openxmlformats.org/drawingml/2006/main">
            <a:off x="6667500" y="18573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63448"/>
                </a:solidFill>
                <a:latin typeface="Arial"/>
                <a:ea typeface="Arial"/>
                <a:cs typeface="Arial"/>
              </a:defRPr>
            </a:pPr>
            <a:r>
              <a:rPr sz="2625" b="1">
                <a:solidFill>
                  <a:srgbClr val="163448"/>
                </a:solidFill>
                <a:latin typeface="Arial"/>
                <a:ea typeface="Arial"/>
                <a:cs typeface="Arial"/>
              </a:rPr>
              <a:t>Autorenzentrum</a:t>
            </a:r>
          </a:p>
        </p:txBody>
      </p:sp>
      <p:sp>
        <p:nvSpPr>
          <p:cNvPr id="6" name="">
            <a:extLst xmlns:a="http://schemas.openxmlformats.org/drawingml/2006/main">
              <a:ext uri="{FF2B5EF4-FFF2-40B4-BE49-F238E27FC236}">
                <a16:creationId xmlns:a16="http://schemas.microsoft.com/office/drawing/2014/main" id="{C15B70F5-F7D4-4EA0-96FD-02CD15C6BC3A}"/>
              </a:ext>
            </a:extLst>
          </p:cNvPr>
          <p:cNvSpPr>
            <a:spLocks xmlns:a="http://schemas.openxmlformats.org/drawingml/2006/main" noGrp="1"/>
          </p:cNvSpPr>
          <p:nvPr/>
        </p:nvSpPr>
        <p:spPr>
          <a:xfrm xmlns:a="http://schemas.openxmlformats.org/drawingml/2006/main">
            <a:off x="6667500" y="2667000"/>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63448"/>
                </a:solidFill>
                <a:latin typeface="Arial"/>
                <a:ea typeface="Arial"/>
                <a:cs typeface="Arial"/>
              </a:defRPr>
            </a:pPr>
            <a:r>
              <a:rPr sz="2550" b="0">
                <a:solidFill>
                  <a:srgbClr val="163448"/>
                </a:solidFill>
                <a:latin typeface="Arial"/>
                <a:ea typeface="Arial"/>
                <a:cs typeface="Arial"/>
              </a:rPr>
              <a:t>Vergleich mit drei</a:t>
            </a:r>
          </a:p>
          <a:p xmlns:a="http://schemas.openxmlformats.org/drawingml/2006/main">
            <a:pPr>
              <a:defRPr sz="2550" b="0">
                <a:solidFill>
                  <a:srgbClr val="163448"/>
                </a:solidFill>
                <a:latin typeface="Arial"/>
                <a:ea typeface="Arial"/>
                <a:cs typeface="Arial"/>
              </a:defRPr>
            </a:pPr>
            <a:r>
              <a:rPr sz="2550" b="0">
                <a:solidFill>
                  <a:srgbClr val="163448"/>
                </a:solidFill>
                <a:latin typeface="Arial"/>
                <a:ea typeface="Arial"/>
                <a:cs typeface="Arial"/>
              </a:rPr>
              <a:t>gemittelten Autorenprofilen</a:t>
            </a:r>
          </a:p>
        </p:txBody>
      </p:sp>
      <p:sp>
        <p:nvSpPr>
          <p:cNvPr id="7" name="">
            <a:extLst xmlns:a="http://schemas.openxmlformats.org/drawingml/2006/main">
              <a:ext uri="{FF2B5EF4-FFF2-40B4-BE49-F238E27FC236}">
                <a16:creationId xmlns:a16="http://schemas.microsoft.com/office/drawing/2014/main" id="{EED699F9-35C3-497F-A25D-A9F02F746337}"/>
              </a:ext>
            </a:extLst>
          </p:cNvPr>
          <p:cNvSpPr>
            <a:spLocks xmlns:a="http://schemas.openxmlformats.org/drawingml/2006/main" noGrp="1"/>
          </p:cNvSpPr>
          <p:nvPr/>
        </p:nvSpPr>
        <p:spPr>
          <a:xfrm xmlns:a="http://schemas.openxmlformats.org/drawingml/2006/main">
            <a:off x="714375" y="5048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7C9C"/>
                </a:solidFill>
                <a:latin typeface="Arial"/>
                <a:ea typeface="Arial"/>
                <a:cs typeface="Arial"/>
              </a:defRPr>
            </a:pPr>
            <a:r>
              <a:rPr sz="2250" b="1">
                <a:solidFill>
                  <a:srgbClr val="247C9C"/>
                </a:solidFill>
                <a:latin typeface="Arial"/>
                <a:ea typeface="Arial"/>
                <a:cs typeface="Arial"/>
              </a:rPr>
              <a:t>Alle Zuordnungen verwenden den vollständigen Merkmalsraum.</a:t>
            </a:r>
          </a:p>
        </p:txBody>
      </p:sp>
    </p:spTree>
    <p:extLst>
      <p:ext uri="{BB962C8B-B14F-4D97-AF65-F5344CB8AC3E}">
        <p14:creationId xmlns:p14="http://schemas.microsoft.com/office/powerpoint/2010/main" val="20603357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662D6A-6544-46EA-8F34-CE1E275AC614}"/>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PCA zeigt einen Ausschnitt der Varianz</a:t>
            </a:r>
          </a:p>
        </p:txBody>
      </p:sp>
      <p:sp>
        <p:nvSpPr>
          <p:cNvPr id="2" name="">
            <a:extLst xmlns:a="http://schemas.openxmlformats.org/drawingml/2006/main">
              <a:ext uri="{FF2B5EF4-FFF2-40B4-BE49-F238E27FC236}">
                <a16:creationId xmlns:a16="http://schemas.microsoft.com/office/drawing/2014/main" id="{F3B61BB1-2199-4DA4-8CA1-EE02CF4659A5}"/>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7</a:t>
            </a:r>
          </a:p>
        </p:txBody>
      </p:sp>
      <p:graphicFrame>
        <p:nvGraphicFramePr>
          <p:cNvPr id="8" name="Chart"/>
          <p:cNvGraphicFramePr/>
          <p:nvPr/>
        </p:nvGraphicFramePr>
        <p:xfrm>
          <a:off xmlns:a="http://schemas.openxmlformats.org/drawingml/2006/main" x="571500" y="1685925"/>
          <a:ext xmlns:a="http://schemas.openxmlformats.org/drawingml/2006/main" cx="5524500" cy="3810000"/>
        </p:xfrm>
        <a:graphic xmlns:a="http://schemas.openxmlformats.org/drawingml/2006/main">
          <a:graphicData uri="http://schemas.openxmlformats.org/drawingml/2006/chart">
            <c:chart xmlns:r="http://schemas.openxmlformats.org/officeDocument/2006/relationships" xmlns:c="http://schemas.openxmlformats.org/drawingml/2006/chart" r:id="R7e4e4e7382df4b2f"/>
          </a:graphicData>
        </a:graphic>
      </p:graphicFrame>
      <p:graphicFrame>
        <p:nvGraphicFramePr>
          <p:cNvPr id="9" name="Chart"/>
          <p:cNvGraphicFramePr/>
          <p:nvPr/>
        </p:nvGraphicFramePr>
        <p:xfrm>
          <a:off xmlns:a="http://schemas.openxmlformats.org/drawingml/2006/main" x="6477000" y="1685925"/>
          <a:ext xmlns:a="http://schemas.openxmlformats.org/drawingml/2006/main" cx="5524500" cy="3810000"/>
        </p:xfrm>
        <a:graphic xmlns:a="http://schemas.openxmlformats.org/drawingml/2006/main">
          <a:graphicData uri="http://schemas.openxmlformats.org/drawingml/2006/chart">
            <c:chart xmlns:r="http://schemas.openxmlformats.org/officeDocument/2006/relationships" xmlns:c="http://schemas.openxmlformats.org/drawingml/2006/chart" r:id="Rb97c0403727d479c"/>
          </a:graphicData>
        </a:graphic>
      </p:graphicFrame>
      <p:sp>
        <p:nvSpPr>
          <p:cNvPr id="5" name="">
            <a:extLst xmlns:a="http://schemas.openxmlformats.org/drawingml/2006/main">
              <a:ext uri="{FF2B5EF4-FFF2-40B4-BE49-F238E27FC236}">
                <a16:creationId xmlns:a16="http://schemas.microsoft.com/office/drawing/2014/main" id="{1639F5C3-F390-4DFA-B384-0BF873A78D6C}"/>
              </a:ext>
            </a:extLst>
          </p:cNvPr>
          <p:cNvSpPr>
            <a:spLocks xmlns:a="http://schemas.openxmlformats.org/drawingml/2006/main" noGrp="1"/>
          </p:cNvSpPr>
          <p:nvPr/>
        </p:nvSpPr>
        <p:spPr>
          <a:xfrm xmlns:a="http://schemas.openxmlformats.org/drawingml/2006/main">
            <a:off x="714375" y="58102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Kazer: Magenta, Farrand: Orange, Commins: Blau. Große Punkte: Mystery</a:t>
            </a:r>
          </a:p>
        </p:txBody>
      </p:sp>
    </p:spTree>
    <p:extLst>
      <p:ext uri="{BB962C8B-B14F-4D97-AF65-F5344CB8AC3E}">
        <p14:creationId xmlns:p14="http://schemas.microsoft.com/office/powerpoint/2010/main" val="15800404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6018E6-88E1-4162-B128-2C9E3F3C8BBC}"/>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Ergebnisse auf 150 offiziellen Testartikeln</a:t>
            </a:r>
          </a:p>
        </p:txBody>
      </p:sp>
      <p:sp>
        <p:nvSpPr>
          <p:cNvPr id="2" name="">
            <a:extLst xmlns:a="http://schemas.openxmlformats.org/drawingml/2006/main">
              <a:ext uri="{FF2B5EF4-FFF2-40B4-BE49-F238E27FC236}">
                <a16:creationId xmlns:a16="http://schemas.microsoft.com/office/drawing/2014/main" id="{C6A5D4DE-E5E4-4BE7-93F5-877E06B66AE5}"/>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8</a:t>
            </a:r>
          </a:p>
        </p:txBody>
      </p:sp>
      <p:graphicFrame>
        <p:nvGraphicFramePr>
          <p:cNvPr id="7" name="Chart"/>
          <p:cNvGraphicFramePr/>
          <p:nvPr/>
        </p:nvGraphicFramePr>
        <p:xfrm>
          <a:off xmlns:a="http://schemas.openxmlformats.org/drawingml/2006/main" x="666750" y="1762125"/>
          <a:ext xmlns:a="http://schemas.openxmlformats.org/drawingml/2006/main" cx="10668000" cy="3524250"/>
        </p:xfrm>
        <a:graphic xmlns:a="http://schemas.openxmlformats.org/drawingml/2006/main">
          <a:graphicData uri="http://schemas.openxmlformats.org/drawingml/2006/chart">
            <c:chart xmlns:r="http://schemas.openxmlformats.org/officeDocument/2006/relationships" xmlns:c="http://schemas.openxmlformats.org/drawingml/2006/chart" r:id="R7a5f7ead1c044bb4"/>
          </a:graphicData>
        </a:graphic>
      </p:graphicFrame>
      <p:sp>
        <p:nvSpPr>
          <p:cNvPr id="4" name="">
            <a:extLst xmlns:a="http://schemas.openxmlformats.org/drawingml/2006/main">
              <a:ext uri="{FF2B5EF4-FFF2-40B4-BE49-F238E27FC236}">
                <a16:creationId xmlns:a16="http://schemas.microsoft.com/office/drawing/2014/main" id="{D87453BE-1771-4CC4-9BC1-713300A78F88}"/>
              </a:ext>
            </a:extLst>
          </p:cNvPr>
          <p:cNvSpPr>
            <a:spLocks xmlns:a="http://schemas.openxmlformats.org/drawingml/2006/main" noGrp="1"/>
          </p:cNvSpPr>
          <p:nvPr/>
        </p:nvSpPr>
        <p:spPr>
          <a:xfrm xmlns:a="http://schemas.openxmlformats.org/drawingml/2006/main">
            <a:off x="714375" y="57626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Macro-F1: TF-IDF 0,9138 / Stil-Nachbar 0,6864 / Stil-Zentrum 0,8283</a:t>
            </a:r>
          </a:p>
        </p:txBody>
      </p:sp>
    </p:spTree>
    <p:extLst>
      <p:ext uri="{BB962C8B-B14F-4D97-AF65-F5344CB8AC3E}">
        <p14:creationId xmlns:p14="http://schemas.microsoft.com/office/powerpoint/2010/main" val="16092500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CDBA57-EE7D-4093-8868-A7D5397266A0}"/>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Verwechslungen beim Stil-Autorenzentrum</a:t>
            </a:r>
          </a:p>
        </p:txBody>
      </p:sp>
      <p:sp>
        <p:nvSpPr>
          <p:cNvPr id="2" name="">
            <a:extLst xmlns:a="http://schemas.openxmlformats.org/drawingml/2006/main">
              <a:ext uri="{FF2B5EF4-FFF2-40B4-BE49-F238E27FC236}">
                <a16:creationId xmlns:a16="http://schemas.microsoft.com/office/drawing/2014/main" id="{22B5BE9A-9F39-4DAE-AAC7-62497F640FE4}"/>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9</a:t>
            </a:r>
          </a:p>
        </p:txBody>
      </p:sp>
      <p:graphicFrame>
        <p:nvGraphicFramePr>
          <p:cNvPr id="7" name=""/>
          <p:cNvGraphicFramePr/>
          <p:nvPr/>
        </p:nvGraphicFramePr>
        <p:xfrm>
          <a:off xmlns:a="http://schemas.openxmlformats.org/drawingml/2006/main" x="714375" y="1809750"/>
          <a:ext xmlns:a="http://schemas.openxmlformats.org/drawingml/2006/main" cx="10715625" cy="2952750"/>
        </p:xfrm>
        <a:graphic xmlns:a="http://schemas.openxmlformats.org/drawingml/2006/main">
          <a:graphicData uri="http://schemas.openxmlformats.org/drawingml/2006/table">
            <a:tbl>
              <a:tblPr/>
              <a:tblGrid>
                <a:gridCol w="4429125"/>
                <a:gridCol w="2095500"/>
                <a:gridCol w="2095500"/>
                <a:gridCol w="2095500"/>
              </a:tblGrid>
              <a:tr h="738188">
                <a:tc>
                  <a:txBody>
                    <a:bodyPr/>
                    <a:lstStyle/>
                    <a:p>
                      <a:r>
                        <a:rPr sz="1875" b="1">
                          <a:solidFill>
                            <a:srgbClr val="FFFFFF"/>
                          </a:solidFill>
                          <a:latin typeface="Arial"/>
                          <a:ea typeface="Arial"/>
                          <a:cs typeface="Arial"/>
                        </a:rPr>
                        <a:t>Wahr / vorhergesagt</a:t>
                      </a:r>
                    </a:p>
                  </a:txBody>
                  <a:tcPr marL="91440" marR="91440" marT="45720" marB="45720">
                    <a:solidFill>
                      <a:srgbClr val="163448"/>
                    </a:solidFill>
                  </a:tcPr>
                </a:tc>
                <a:tc>
                  <a:txBody>
                    <a:bodyPr/>
                    <a:lstStyle/>
                    <a:p>
                      <a:r>
                        <a:rPr sz="1875" b="1">
                          <a:solidFill>
                            <a:srgbClr val="FFFFFF"/>
                          </a:solidFill>
                          <a:latin typeface="Arial"/>
                          <a:ea typeface="Arial"/>
                          <a:cs typeface="Arial"/>
                        </a:rPr>
                        <a:t>Kazer</a:t>
                      </a:r>
                    </a:p>
                  </a:txBody>
                  <a:tcPr marL="91440" marR="91440" marT="45720" marB="45720">
                    <a:solidFill>
                      <a:srgbClr val="163448"/>
                    </a:solidFill>
                  </a:tcPr>
                </a:tc>
                <a:tc>
                  <a:txBody>
                    <a:bodyPr/>
                    <a:lstStyle/>
                    <a:p>
                      <a:r>
                        <a:rPr sz="1875" b="1">
                          <a:solidFill>
                            <a:srgbClr val="FFFFFF"/>
                          </a:solidFill>
                          <a:latin typeface="Arial"/>
                          <a:ea typeface="Arial"/>
                          <a:cs typeface="Arial"/>
                        </a:rPr>
                        <a:t>Farrand</a:t>
                      </a:r>
                    </a:p>
                  </a:txBody>
                  <a:tcPr marL="91440" marR="91440" marT="45720" marB="45720">
                    <a:solidFill>
                      <a:srgbClr val="163448"/>
                    </a:solidFill>
                  </a:tcPr>
                </a:tc>
                <a:tc>
                  <a:txBody>
                    <a:bodyPr/>
                    <a:lstStyle/>
                    <a:p>
                      <a:r>
                        <a:rPr sz="1875" b="1">
                          <a:solidFill>
                            <a:srgbClr val="FFFFFF"/>
                          </a:solidFill>
                          <a:latin typeface="Arial"/>
                          <a:ea typeface="Arial"/>
                          <a:cs typeface="Arial"/>
                        </a:rPr>
                        <a:t>Commins</a:t>
                      </a:r>
                    </a:p>
                  </a:txBody>
                  <a:tcPr marL="91440" marR="91440" marT="45720" marB="45720">
                    <a:solidFill>
                      <a:srgbClr val="163448"/>
                    </a:solidFill>
                  </a:tcPr>
                </a:tc>
              </a:tr>
              <a:tr h="738188">
                <a:tc>
                  <a:txBody>
                    <a:bodyPr/>
                    <a:lstStyle/>
                    <a:p>
                      <a:r>
                        <a:rPr sz="2025" b="0">
                          <a:solidFill>
                            <a:srgbClr val="163448"/>
                          </a:solidFill>
                          <a:latin typeface="Arial"/>
                          <a:ea typeface="Arial"/>
                          <a:cs typeface="Arial"/>
                        </a:rPr>
                        <a:t>Kazer</a:t>
                      </a:r>
                    </a:p>
                  </a:txBody>
                  <a:tcPr marL="91440" marR="91440" marT="45720" marB="45720">
                    <a:solidFill>
                      <a:srgbClr val="FFFFFF"/>
                    </a:solidFill>
                  </a:tcPr>
                </a:tc>
                <a:tc>
                  <a:txBody>
                    <a:bodyPr/>
                    <a:lstStyle/>
                    <a:p>
                      <a:r>
                        <a:rPr sz="2025" b="0">
                          <a:solidFill>
                            <a:srgbClr val="163448"/>
                          </a:solidFill>
                          <a:latin typeface="Arial"/>
                          <a:ea typeface="Arial"/>
                          <a:cs typeface="Arial"/>
                        </a:rPr>
                        <a:t>40</a:t>
                      </a:r>
                    </a:p>
                  </a:txBody>
                  <a:tcPr marL="91440" marR="91440" marT="45720" marB="45720">
                    <a:solidFill>
                      <a:srgbClr val="FFFFFF"/>
                    </a:solidFill>
                  </a:tcPr>
                </a:tc>
                <a:tc>
                  <a:txBody>
                    <a:bodyPr/>
                    <a:lstStyle/>
                    <a:p>
                      <a:r>
                        <a:rPr sz="2025" b="0">
                          <a:solidFill>
                            <a:srgbClr val="163448"/>
                          </a:solidFill>
                          <a:latin typeface="Arial"/>
                          <a:ea typeface="Arial"/>
                          <a:cs typeface="Arial"/>
                        </a:rPr>
                        <a:t>8</a:t>
                      </a:r>
                    </a:p>
                  </a:txBody>
                  <a:tcPr marL="91440" marR="91440" marT="45720" marB="45720">
                    <a:solidFill>
                      <a:srgbClr val="FFFFFF"/>
                    </a:solidFill>
                  </a:tcPr>
                </a:tc>
                <a:tc>
                  <a:txBody>
                    <a:bodyPr/>
                    <a:lstStyle/>
                    <a:p>
                      <a:r>
                        <a:rPr sz="2025" b="0">
                          <a:solidFill>
                            <a:srgbClr val="163448"/>
                          </a:solidFill>
                          <a:latin typeface="Arial"/>
                          <a:ea typeface="Arial"/>
                          <a:cs typeface="Arial"/>
                        </a:rPr>
                        <a:t>2</a:t>
                      </a:r>
                    </a:p>
                  </a:txBody>
                  <a:tcPr marL="91440" marR="91440" marT="45720" marB="45720">
                    <a:solidFill>
                      <a:srgbClr val="FFFFFF"/>
                    </a:solidFill>
                  </a:tcPr>
                </a:tc>
              </a:tr>
              <a:tr h="738188">
                <a:tc>
                  <a:txBody>
                    <a:bodyPr/>
                    <a:lstStyle/>
                    <a:p>
                      <a:r>
                        <a:rPr sz="2025" b="0">
                          <a:solidFill>
                            <a:srgbClr val="163448"/>
                          </a:solidFill>
                          <a:latin typeface="Arial"/>
                          <a:ea typeface="Arial"/>
                          <a:cs typeface="Arial"/>
                        </a:rPr>
                        <a:t>Farrand</a:t>
                      </a:r>
                    </a:p>
                  </a:txBody>
                  <a:tcPr marL="91440" marR="91440" marT="45720" marB="45720">
                    <a:solidFill>
                      <a:srgbClr val="F1F5F7"/>
                    </a:solidFill>
                  </a:tcPr>
                </a:tc>
                <a:tc>
                  <a:txBody>
                    <a:bodyPr/>
                    <a:lstStyle/>
                    <a:p>
                      <a:r>
                        <a:rPr sz="2025" b="0">
                          <a:solidFill>
                            <a:srgbClr val="163448"/>
                          </a:solidFill>
                          <a:latin typeface="Arial"/>
                          <a:ea typeface="Arial"/>
                          <a:cs typeface="Arial"/>
                        </a:rPr>
                        <a:t>11</a:t>
                      </a:r>
                    </a:p>
                  </a:txBody>
                  <a:tcPr marL="91440" marR="91440" marT="45720" marB="45720">
                    <a:solidFill>
                      <a:srgbClr val="F1F5F7"/>
                    </a:solidFill>
                  </a:tcPr>
                </a:tc>
                <a:tc>
                  <a:txBody>
                    <a:bodyPr/>
                    <a:lstStyle/>
                    <a:p>
                      <a:r>
                        <a:rPr sz="2025" b="0">
                          <a:solidFill>
                            <a:srgbClr val="163448"/>
                          </a:solidFill>
                          <a:latin typeface="Arial"/>
                          <a:ea typeface="Arial"/>
                          <a:cs typeface="Arial"/>
                        </a:rPr>
                        <a:t>39</a:t>
                      </a:r>
                    </a:p>
                  </a:txBody>
                  <a:tcPr marL="91440" marR="91440" marT="45720" marB="45720">
                    <a:solidFill>
                      <a:srgbClr val="F1F5F7"/>
                    </a:solidFill>
                  </a:tcPr>
                </a:tc>
                <a:tc>
                  <a:txBody>
                    <a:bodyPr/>
                    <a:lstStyle/>
                    <a:p>
                      <a:r>
                        <a:rPr sz="2025" b="0">
                          <a:solidFill>
                            <a:srgbClr val="163448"/>
                          </a:solidFill>
                          <a:latin typeface="Arial"/>
                          <a:ea typeface="Arial"/>
                          <a:cs typeface="Arial"/>
                        </a:rPr>
                        <a:t>0</a:t>
                      </a:r>
                    </a:p>
                  </a:txBody>
                  <a:tcPr marL="91440" marR="91440" marT="45720" marB="45720">
                    <a:solidFill>
                      <a:srgbClr val="F1F5F7"/>
                    </a:solidFill>
                  </a:tcPr>
                </a:tc>
              </a:tr>
              <a:tr h="738188">
                <a:tc>
                  <a:txBody>
                    <a:bodyPr/>
                    <a:lstStyle/>
                    <a:p>
                      <a:r>
                        <a:rPr sz="2025" b="0">
                          <a:solidFill>
                            <a:srgbClr val="163448"/>
                          </a:solidFill>
                          <a:latin typeface="Arial"/>
                          <a:ea typeface="Arial"/>
                          <a:cs typeface="Arial"/>
                        </a:rPr>
                        <a:t>Commins</a:t>
                      </a:r>
                    </a:p>
                  </a:txBody>
                  <a:tcPr marL="91440" marR="91440" marT="45720" marB="45720">
                    <a:solidFill>
                      <a:srgbClr val="FFFFFF"/>
                    </a:solidFill>
                  </a:tcPr>
                </a:tc>
                <a:tc>
                  <a:txBody>
                    <a:bodyPr/>
                    <a:lstStyle/>
                    <a:p>
                      <a:r>
                        <a:rPr sz="2025" b="0">
                          <a:solidFill>
                            <a:srgbClr val="163448"/>
                          </a:solidFill>
                          <a:latin typeface="Arial"/>
                          <a:ea typeface="Arial"/>
                          <a:cs typeface="Arial"/>
                        </a:rPr>
                        <a:t>3</a:t>
                      </a:r>
                    </a:p>
                  </a:txBody>
                  <a:tcPr marL="91440" marR="91440" marT="45720" marB="45720">
                    <a:solidFill>
                      <a:srgbClr val="FFFFFF"/>
                    </a:solidFill>
                  </a:tcPr>
                </a:tc>
                <a:tc>
                  <a:txBody>
                    <a:bodyPr/>
                    <a:lstStyle/>
                    <a:p>
                      <a:r>
                        <a:rPr sz="2025" b="0">
                          <a:solidFill>
                            <a:srgbClr val="163448"/>
                          </a:solidFill>
                          <a:latin typeface="Arial"/>
                          <a:ea typeface="Arial"/>
                          <a:cs typeface="Arial"/>
                        </a:rPr>
                        <a:t>2</a:t>
                      </a:r>
                    </a:p>
                  </a:txBody>
                  <a:tcPr marL="91440" marR="91440" marT="45720" marB="45720">
                    <a:solidFill>
                      <a:srgbClr val="FFFFFF"/>
                    </a:solidFill>
                  </a:tcPr>
                </a:tc>
                <a:tc>
                  <a:txBody>
                    <a:bodyPr/>
                    <a:lstStyle/>
                    <a:p>
                      <a:r>
                        <a:rPr sz="2025" b="0">
                          <a:solidFill>
                            <a:srgbClr val="163448"/>
                          </a:solidFill>
                          <a:latin typeface="Arial"/>
                          <a:ea typeface="Arial"/>
                          <a:cs typeface="Arial"/>
                        </a:rPr>
                        <a:t>45</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3BBDB22-ADDB-4A60-8300-C2C0E16BD6FA}"/>
              </a:ext>
            </a:extLst>
          </p:cNvPr>
          <p:cNvSpPr>
            <a:spLocks xmlns:a="http://schemas.openxmlformats.org/drawingml/2006/main" noGrp="1"/>
          </p:cNvSpPr>
          <p:nvPr/>
        </p:nvSpPr>
        <p:spPr>
          <a:xfrm xmlns:a="http://schemas.openxmlformats.org/drawingml/2006/main">
            <a:off x="714375" y="5334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7C9C"/>
                </a:solidFill>
                <a:latin typeface="Arial"/>
                <a:ea typeface="Arial"/>
                <a:cs typeface="Arial"/>
              </a:defRPr>
            </a:pPr>
            <a:r>
              <a:rPr sz="2325" b="1">
                <a:solidFill>
                  <a:srgbClr val="247C9C"/>
                </a:solidFill>
                <a:latin typeface="Arial"/>
                <a:ea typeface="Arial"/>
                <a:cs typeface="Arial"/>
              </a:rPr>
              <a:t>Recall: Kazer 80 %, Farrand 78 %, Commins 90 %</a:t>
            </a:r>
          </a:p>
        </p:txBody>
      </p:sp>
    </p:spTree>
    <p:extLst>
      <p:ext uri="{BB962C8B-B14F-4D97-AF65-F5344CB8AC3E}">
        <p14:creationId xmlns:p14="http://schemas.microsoft.com/office/powerpoint/2010/main" val="20180771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8074CB-6E48-4DE0-9A50-344B8024081F}"/>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Drei konkrete Fehlerfälle</a:t>
            </a:r>
          </a:p>
        </p:txBody>
      </p:sp>
      <p:sp>
        <p:nvSpPr>
          <p:cNvPr id="2" name="">
            <a:extLst xmlns:a="http://schemas.openxmlformats.org/drawingml/2006/main">
              <a:ext uri="{FF2B5EF4-FFF2-40B4-BE49-F238E27FC236}">
                <a16:creationId xmlns:a16="http://schemas.microsoft.com/office/drawing/2014/main" id="{E47FA66A-F7EF-4CE8-B0EA-13245229239D}"/>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10</a:t>
            </a:r>
          </a:p>
        </p:txBody>
      </p:sp>
      <p:graphicFrame>
        <p:nvGraphicFramePr>
          <p:cNvPr id="7" name=""/>
          <p:cNvGraphicFramePr/>
          <p:nvPr/>
        </p:nvGraphicFramePr>
        <p:xfrm>
          <a:off xmlns:a="http://schemas.openxmlformats.org/drawingml/2006/main" x="714375" y="1714500"/>
          <a:ext xmlns:a="http://schemas.openxmlformats.org/drawingml/2006/main" cx="10715625" cy="3143250"/>
        </p:xfrm>
        <a:graphic xmlns:a="http://schemas.openxmlformats.org/drawingml/2006/main">
          <a:graphicData uri="http://schemas.openxmlformats.org/drawingml/2006/table">
            <a:tbl>
              <a:tblPr/>
              <a:tblGrid>
                <a:gridCol w="3286125"/>
                <a:gridCol w="1714500"/>
                <a:gridCol w="2000250"/>
                <a:gridCol w="3714750"/>
              </a:tblGrid>
              <a:tr h="785813">
                <a:tc>
                  <a:txBody>
                    <a:bodyPr/>
                    <a:lstStyle/>
                    <a:p>
                      <a:r>
                        <a:rPr sz="1875" b="1">
                          <a:solidFill>
                            <a:srgbClr val="FFFFFF"/>
                          </a:solidFill>
                          <a:latin typeface="Arial"/>
                          <a:ea typeface="Arial"/>
                          <a:cs typeface="Arial"/>
                        </a:rPr>
                        <a:t>Testdatei von Commins</a:t>
                      </a:r>
                    </a:p>
                  </a:txBody>
                  <a:tcPr marL="91440" marR="91440" marT="45720" marB="45720">
                    <a:solidFill>
                      <a:srgbClr val="163448"/>
                    </a:solidFill>
                  </a:tcPr>
                </a:tc>
                <a:tc>
                  <a:txBody>
                    <a:bodyPr/>
                    <a:lstStyle/>
                    <a:p>
                      <a:r>
                        <a:rPr sz="1875" b="1">
                          <a:solidFill>
                            <a:srgbClr val="FFFFFF"/>
                          </a:solidFill>
                          <a:latin typeface="Arial"/>
                          <a:ea typeface="Arial"/>
                          <a:cs typeface="Arial"/>
                        </a:rPr>
                        <a:t>TF-IDF</a:t>
                      </a:r>
                    </a:p>
                  </a:txBody>
                  <a:tcPr marL="91440" marR="91440" marT="45720" marB="45720">
                    <a:solidFill>
                      <a:srgbClr val="163448"/>
                    </a:solidFill>
                  </a:tcPr>
                </a:tc>
                <a:tc>
                  <a:txBody>
                    <a:bodyPr/>
                    <a:lstStyle/>
                    <a:p>
                      <a:r>
                        <a:rPr sz="1875" b="1">
                          <a:solidFill>
                            <a:srgbClr val="FFFFFF"/>
                          </a:solidFill>
                          <a:latin typeface="Arial"/>
                          <a:ea typeface="Arial"/>
                          <a:cs typeface="Arial"/>
                        </a:rPr>
                        <a:t>Stilzentrum</a:t>
                      </a:r>
                    </a:p>
                  </a:txBody>
                  <a:tcPr marL="91440" marR="91440" marT="45720" marB="45720">
                    <a:solidFill>
                      <a:srgbClr val="163448"/>
                    </a:solidFill>
                  </a:tcPr>
                </a:tc>
                <a:tc>
                  <a:txBody>
                    <a:bodyPr/>
                    <a:lstStyle/>
                    <a:p>
                      <a:r>
                        <a:rPr sz="1875" b="1">
                          <a:solidFill>
                            <a:srgbClr val="FFFFFF"/>
                          </a:solidFill>
                          <a:latin typeface="Arial"/>
                          <a:ea typeface="Arial"/>
                          <a:cs typeface="Arial"/>
                        </a:rPr>
                        <a:t>Beobachtung</a:t>
                      </a:r>
                    </a:p>
                  </a:txBody>
                  <a:tcPr marL="91440" marR="91440" marT="45720" marB="45720">
                    <a:solidFill>
                      <a:srgbClr val="163448"/>
                    </a:solidFill>
                  </a:tcPr>
                </a:tc>
              </a:tr>
              <a:tr h="785813">
                <a:tc>
                  <a:txBody>
                    <a:bodyPr/>
                    <a:lstStyle/>
                    <a:p>
                      <a:r>
                        <a:rPr sz="2025" b="0">
                          <a:solidFill>
                            <a:srgbClr val="163448"/>
                          </a:solidFill>
                          <a:latin typeface="Arial"/>
                          <a:ea typeface="Arial"/>
                          <a:cs typeface="Arial"/>
                        </a:rPr>
                        <a:t>314014newsML.txt</a:t>
                      </a:r>
                    </a:p>
                  </a:txBody>
                  <a:tcPr marL="91440" marR="91440" marT="45720" marB="45720">
                    <a:solidFill>
                      <a:srgbClr val="FFFFFF"/>
                    </a:solidFill>
                  </a:tcPr>
                </a:tc>
                <a:tc>
                  <a:txBody>
                    <a:bodyPr/>
                    <a:lstStyle/>
                    <a:p>
                      <a:r>
                        <a:rPr sz="2025" b="0">
                          <a:solidFill>
                            <a:srgbClr val="163448"/>
                          </a:solidFill>
                          <a:latin typeface="Arial"/>
                          <a:ea typeface="Arial"/>
                          <a:cs typeface="Arial"/>
                        </a:rPr>
                        <a:t>Farrand</a:t>
                      </a:r>
                    </a:p>
                  </a:txBody>
                  <a:tcPr marL="91440" marR="91440" marT="45720" marB="45720">
                    <a:solidFill>
                      <a:srgbClr val="FFFFFF"/>
                    </a:solidFill>
                  </a:tcPr>
                </a:tc>
                <a:tc>
                  <a:txBody>
                    <a:bodyPr/>
                    <a:lstStyle/>
                    <a:p>
                      <a:r>
                        <a:rPr sz="2025" b="0">
                          <a:solidFill>
                            <a:srgbClr val="163448"/>
                          </a:solidFill>
                          <a:latin typeface="Arial"/>
                          <a:ea typeface="Arial"/>
                          <a:cs typeface="Arial"/>
                        </a:rPr>
                        <a:t>Commins</a:t>
                      </a:r>
                    </a:p>
                  </a:txBody>
                  <a:tcPr marL="91440" marR="91440" marT="45720" marB="45720">
                    <a:solidFill>
                      <a:srgbClr val="FFFFFF"/>
                    </a:solidFill>
                  </a:tcPr>
                </a:tc>
                <a:tc>
                  <a:txBody>
                    <a:bodyPr/>
                    <a:lstStyle/>
                    <a:p>
                      <a:r>
                        <a:rPr sz="2025" b="0">
                          <a:solidFill>
                            <a:srgbClr val="163448"/>
                          </a:solidFill>
                          <a:latin typeface="Arial"/>
                          <a:ea typeface="Arial"/>
                          <a:cs typeface="Arial"/>
                        </a:rPr>
                        <a:t>Ähnliche Handelsthemen</a:t>
                      </a:r>
                    </a:p>
                  </a:txBody>
                  <a:tcPr marL="91440" marR="91440" marT="45720" marB="45720">
                    <a:solidFill>
                      <a:srgbClr val="FFFFFF"/>
                    </a:solidFill>
                  </a:tcPr>
                </a:tc>
              </a:tr>
              <a:tr h="785813">
                <a:tc>
                  <a:txBody>
                    <a:bodyPr/>
                    <a:lstStyle/>
                    <a:p>
                      <a:r>
                        <a:rPr sz="2025" b="0">
                          <a:solidFill>
                            <a:srgbClr val="163448"/>
                          </a:solidFill>
                          <a:latin typeface="Arial"/>
                          <a:ea typeface="Arial"/>
                          <a:cs typeface="Arial"/>
                        </a:rPr>
                        <a:t>334989newsML.txt</a:t>
                      </a:r>
                    </a:p>
                  </a:txBody>
                  <a:tcPr marL="91440" marR="91440" marT="45720" marB="45720">
                    <a:solidFill>
                      <a:srgbClr val="F1F5F7"/>
                    </a:solidFill>
                  </a:tcPr>
                </a:tc>
                <a:tc>
                  <a:txBody>
                    <a:bodyPr/>
                    <a:lstStyle/>
                    <a:p>
                      <a:r>
                        <a:rPr sz="2025" b="0">
                          <a:solidFill>
                            <a:srgbClr val="163448"/>
                          </a:solidFill>
                          <a:latin typeface="Arial"/>
                          <a:ea typeface="Arial"/>
                          <a:cs typeface="Arial"/>
                        </a:rPr>
                        <a:t>Commins</a:t>
                      </a:r>
                    </a:p>
                  </a:txBody>
                  <a:tcPr marL="91440" marR="91440" marT="45720" marB="45720">
                    <a:solidFill>
                      <a:srgbClr val="F1F5F7"/>
                    </a:solidFill>
                  </a:tcPr>
                </a:tc>
                <a:tc>
                  <a:txBody>
                    <a:bodyPr/>
                    <a:lstStyle/>
                    <a:p>
                      <a:r>
                        <a:rPr sz="2025" b="0">
                          <a:solidFill>
                            <a:srgbClr val="163448"/>
                          </a:solidFill>
                          <a:latin typeface="Arial"/>
                          <a:ea typeface="Arial"/>
                          <a:cs typeface="Arial"/>
                        </a:rPr>
                        <a:t>Kazer</a:t>
                      </a:r>
                    </a:p>
                  </a:txBody>
                  <a:tcPr marL="91440" marR="91440" marT="45720" marB="45720">
                    <a:solidFill>
                      <a:srgbClr val="F1F5F7"/>
                    </a:solidFill>
                  </a:tcPr>
                </a:tc>
                <a:tc>
                  <a:txBody>
                    <a:bodyPr/>
                    <a:lstStyle/>
                    <a:p>
                      <a:r>
                        <a:rPr sz="2025" b="0">
                          <a:solidFill>
                            <a:srgbClr val="163448"/>
                          </a:solidFill>
                          <a:latin typeface="Arial"/>
                          <a:ea typeface="Arial"/>
                          <a:cs typeface="Arial"/>
                        </a:rPr>
                        <a:t>Quaker und Snapple</a:t>
                      </a:r>
                    </a:p>
                  </a:txBody>
                  <a:tcPr marL="91440" marR="91440" marT="45720" marB="45720">
                    <a:solidFill>
                      <a:srgbClr val="F1F5F7"/>
                    </a:solidFill>
                  </a:tcPr>
                </a:tc>
              </a:tr>
              <a:tr h="785813">
                <a:tc>
                  <a:txBody>
                    <a:bodyPr/>
                    <a:lstStyle/>
                    <a:p>
                      <a:r>
                        <a:rPr sz="2025" b="0">
                          <a:solidFill>
                            <a:srgbClr val="163448"/>
                          </a:solidFill>
                          <a:latin typeface="Arial"/>
                          <a:ea typeface="Arial"/>
                          <a:cs typeface="Arial"/>
                        </a:rPr>
                        <a:t>404426newsML.txt</a:t>
                      </a:r>
                    </a:p>
                  </a:txBody>
                  <a:tcPr marL="91440" marR="91440" marT="45720" marB="45720">
                    <a:solidFill>
                      <a:srgbClr val="FFFFFF"/>
                    </a:solidFill>
                  </a:tcPr>
                </a:tc>
                <a:tc>
                  <a:txBody>
                    <a:bodyPr/>
                    <a:lstStyle/>
                    <a:p>
                      <a:r>
                        <a:rPr sz="2025" b="0">
                          <a:solidFill>
                            <a:srgbClr val="163448"/>
                          </a:solidFill>
                          <a:latin typeface="Arial"/>
                          <a:ea typeface="Arial"/>
                          <a:cs typeface="Arial"/>
                        </a:rPr>
                        <a:t>Farrand</a:t>
                      </a:r>
                    </a:p>
                  </a:txBody>
                  <a:tcPr marL="91440" marR="91440" marT="45720" marB="45720">
                    <a:solidFill>
                      <a:srgbClr val="FFFFFF"/>
                    </a:solidFill>
                  </a:tcPr>
                </a:tc>
                <a:tc>
                  <a:txBody>
                    <a:bodyPr/>
                    <a:lstStyle/>
                    <a:p>
                      <a:r>
                        <a:rPr sz="2025" b="0">
                          <a:solidFill>
                            <a:srgbClr val="163448"/>
                          </a:solidFill>
                          <a:latin typeface="Arial"/>
                          <a:ea typeface="Arial"/>
                          <a:cs typeface="Arial"/>
                        </a:rPr>
                        <a:t>Farrand</a:t>
                      </a:r>
                    </a:p>
                  </a:txBody>
                  <a:tcPr marL="91440" marR="91440" marT="45720" marB="45720">
                    <a:solidFill>
                      <a:srgbClr val="FFFFFF"/>
                    </a:solidFill>
                  </a:tcPr>
                </a:tc>
                <a:tc>
                  <a:txBody>
                    <a:bodyPr/>
                    <a:lstStyle/>
                    <a:p>
                      <a:r>
                        <a:rPr sz="2025" b="0">
                          <a:solidFill>
                            <a:srgbClr val="163448"/>
                          </a:solidFill>
                          <a:latin typeface="Arial"/>
                          <a:ea typeface="Arial"/>
                          <a:cs typeface="Arial"/>
                        </a:rPr>
                        <a:t>Maisverarbeitung, seltene Interpunktion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241FC2C-8443-471B-B68D-FCFA248CD4BF}"/>
              </a:ext>
            </a:extLst>
          </p:cNvPr>
          <p:cNvSpPr>
            <a:spLocks xmlns:a="http://schemas.openxmlformats.org/drawingml/2006/main" noGrp="1"/>
          </p:cNvSpPr>
          <p:nvPr/>
        </p:nvSpPr>
        <p:spPr>
          <a:xfrm xmlns:a="http://schemas.openxmlformats.org/drawingml/2006/main">
            <a:off x="714375" y="53911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16B"/>
                </a:solidFill>
                <a:latin typeface="Arial"/>
                <a:ea typeface="Arial"/>
                <a:cs typeface="Arial"/>
              </a:defRPr>
            </a:pPr>
            <a:r>
              <a:rPr sz="2100" b="0">
                <a:solidFill>
                  <a:srgbClr val="52616B"/>
                </a:solidFill>
                <a:latin typeface="Arial"/>
                <a:ea typeface="Arial"/>
                <a:cs typeface="Arial"/>
              </a:rPr>
              <a:t>Nachträglich ausgewählte Beispiele. Keine Modellanpassung danach.</a:t>
            </a:r>
          </a:p>
        </p:txBody>
      </p:sp>
    </p:spTree>
    <p:extLst>
      <p:ext uri="{BB962C8B-B14F-4D97-AF65-F5344CB8AC3E}">
        <p14:creationId xmlns:p14="http://schemas.microsoft.com/office/powerpoint/2010/main" val="20541073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FC5DCB-373D-4655-B0B1-5BC215339E94}"/>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Python-Umsetzung und Reproduktion</a:t>
            </a:r>
          </a:p>
        </p:txBody>
      </p:sp>
      <p:sp>
        <p:nvSpPr>
          <p:cNvPr id="2" name="">
            <a:extLst xmlns:a="http://schemas.openxmlformats.org/drawingml/2006/main">
              <a:ext uri="{FF2B5EF4-FFF2-40B4-BE49-F238E27FC236}">
                <a16:creationId xmlns:a16="http://schemas.microsoft.com/office/drawing/2014/main" id="{E00B8191-AFCC-43FB-BE1E-CB87CB68580E}"/>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F82EF043-E360-41F9-8A13-11315BE1437B}"/>
              </a:ext>
            </a:extLst>
          </p:cNvPr>
          <p:cNvSpPr>
            <a:spLocks xmlns:a="http://schemas.openxmlformats.org/drawingml/2006/main" noGrp="1"/>
          </p:cNvSpPr>
          <p:nvPr/>
        </p:nvSpPr>
        <p:spPr>
          <a:xfrm xmlns:a="http://schemas.openxmlformats.org/drawingml/2006/main">
            <a:off x="714375" y="16668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448"/>
                </a:solidFill>
                <a:latin typeface="Arial"/>
                <a:ea typeface="Arial"/>
                <a:cs typeface="Arial"/>
              </a:defRPr>
            </a:pPr>
            <a:r>
              <a:rPr sz="2250" b="0">
                <a:solidFill>
                  <a:srgbClr val="163448"/>
                </a:solidFill>
                <a:latin typeface="Arial"/>
                <a:ea typeface="Arial"/>
                <a:cs typeface="Arial"/>
              </a:rPr>
              <a:t>prepare_data.py bereitet die Daten vor</a:t>
            </a:r>
          </a:p>
        </p:txBody>
      </p:sp>
      <p:sp>
        <p:nvSpPr>
          <p:cNvPr id="4" name="">
            <a:extLst xmlns:a="http://schemas.openxmlformats.org/drawingml/2006/main">
              <a:ext uri="{FF2B5EF4-FFF2-40B4-BE49-F238E27FC236}">
                <a16:creationId xmlns:a16="http://schemas.microsoft.com/office/drawing/2014/main" id="{F498FA3D-3C60-47D7-91E0-EB18E18233C6}"/>
              </a:ext>
            </a:extLst>
          </p:cNvPr>
          <p:cNvSpPr>
            <a:spLocks xmlns:a="http://schemas.openxmlformats.org/drawingml/2006/main" noGrp="1"/>
          </p:cNvSpPr>
          <p:nvPr/>
        </p:nvSpPr>
        <p:spPr>
          <a:xfrm xmlns:a="http://schemas.openxmlformats.org/drawingml/2006/main">
            <a:off x="714375" y="271462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448"/>
                </a:solidFill>
                <a:latin typeface="Arial"/>
                <a:ea typeface="Arial"/>
                <a:cs typeface="Arial"/>
              </a:defRPr>
            </a:pPr>
            <a:r>
              <a:rPr sz="2250" b="0">
                <a:solidFill>
                  <a:srgbClr val="163448"/>
                </a:solidFill>
                <a:latin typeface="Arial"/>
                <a:ea typeface="Arial"/>
                <a:cs typeface="Arial"/>
              </a:rPr>
              <a:t>run_analysis.py erzeugt den vollständigen Vergleich</a:t>
            </a:r>
          </a:p>
        </p:txBody>
      </p:sp>
      <p:sp>
        <p:nvSpPr>
          <p:cNvPr id="5" name="">
            <a:extLst xmlns:a="http://schemas.openxmlformats.org/drawingml/2006/main">
              <a:ext uri="{FF2B5EF4-FFF2-40B4-BE49-F238E27FC236}">
                <a16:creationId xmlns:a16="http://schemas.microsoft.com/office/drawing/2014/main" id="{53AA9681-7702-4345-BB50-E1A6800AB14E}"/>
              </a:ext>
            </a:extLst>
          </p:cNvPr>
          <p:cNvSpPr>
            <a:spLocks xmlns:a="http://schemas.openxmlformats.org/drawingml/2006/main" noGrp="1"/>
          </p:cNvSpPr>
          <p:nvPr/>
        </p:nvSpPr>
        <p:spPr>
          <a:xfrm xmlns:a="http://schemas.openxmlformats.org/drawingml/2006/main">
            <a:off x="714375" y="37623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448"/>
                </a:solidFill>
                <a:latin typeface="Arial"/>
                <a:ea typeface="Arial"/>
                <a:cs typeface="Arial"/>
              </a:defRPr>
            </a:pPr>
            <a:r>
              <a:rPr sz="2250" b="0">
                <a:solidFill>
                  <a:srgbClr val="163448"/>
                </a:solidFill>
                <a:latin typeface="Arial"/>
                <a:ea typeface="Arial"/>
                <a:cs typeface="Arial"/>
              </a:rPr>
              <a:t>CSV und JSON dokumentieren Merkmale, Vorhersagen und Parameter</a:t>
            </a:r>
          </a:p>
        </p:txBody>
      </p:sp>
      <p:sp>
        <p:nvSpPr>
          <p:cNvPr id="6" name="">
            <a:extLst xmlns:a="http://schemas.openxmlformats.org/drawingml/2006/main">
              <a:ext uri="{FF2B5EF4-FFF2-40B4-BE49-F238E27FC236}">
                <a16:creationId xmlns:a16="http://schemas.microsoft.com/office/drawing/2014/main" id="{64DB399B-8426-4DDD-93C2-36BAB252EBA7}"/>
              </a:ext>
            </a:extLst>
          </p:cNvPr>
          <p:cNvSpPr>
            <a:spLocks xmlns:a="http://schemas.openxmlformats.org/drawingml/2006/main" noGrp="1"/>
          </p:cNvSpPr>
          <p:nvPr/>
        </p:nvSpPr>
        <p:spPr>
          <a:xfrm xmlns:a="http://schemas.openxmlformats.org/drawingml/2006/main">
            <a:off x="714375" y="481012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448"/>
                </a:solidFill>
                <a:latin typeface="Arial"/>
                <a:ea typeface="Arial"/>
                <a:cs typeface="Arial"/>
              </a:defRPr>
            </a:pPr>
            <a:r>
              <a:rPr sz="2250" b="0">
                <a:solidFill>
                  <a:srgbClr val="163448"/>
                </a:solidFill>
                <a:latin typeface="Arial"/>
                <a:ea typeface="Arial"/>
                <a:cs typeface="Arial"/>
              </a:rPr>
              <a:t>Neue Umgebung, fünf Funktionstests und drei geprüfte Notebooks</a:t>
            </a:r>
          </a:p>
        </p:txBody>
      </p:sp>
    </p:spTree>
    <p:extLst>
      <p:ext uri="{BB962C8B-B14F-4D97-AF65-F5344CB8AC3E}">
        <p14:creationId xmlns:p14="http://schemas.microsoft.com/office/powerpoint/2010/main" val="10491690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799CA4-91D0-430F-8893-E7E8B5BCEBA6}"/>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Ergebnis, Grenzen und Beiträge</a:t>
            </a:r>
          </a:p>
        </p:txBody>
      </p:sp>
      <p:sp>
        <p:nvSpPr>
          <p:cNvPr id="2" name="">
            <a:extLst xmlns:a="http://schemas.openxmlformats.org/drawingml/2006/main">
              <a:ext uri="{FF2B5EF4-FFF2-40B4-BE49-F238E27FC236}">
                <a16:creationId xmlns:a16="http://schemas.microsoft.com/office/drawing/2014/main" id="{A88E6A9A-B08C-4E84-8267-602E045469CA}"/>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24A2635B-EAD1-4791-83FA-D094B6207DE7}"/>
              </a:ext>
            </a:extLst>
          </p:cNvPr>
          <p:cNvSpPr>
            <a:spLocks xmlns:a="http://schemas.openxmlformats.org/drawingml/2006/main" noGrp="1"/>
          </p:cNvSpPr>
          <p:nvPr/>
        </p:nvSpPr>
        <p:spPr>
          <a:xfrm xmlns:a="http://schemas.openxmlformats.org/drawingml/2006/main">
            <a:off x="714375" y="16478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448"/>
                </a:solidFill>
                <a:latin typeface="Arial"/>
                <a:ea typeface="Arial"/>
                <a:cs typeface="Arial"/>
              </a:defRPr>
            </a:pPr>
            <a:r>
              <a:rPr sz="2175" b="0">
                <a:solidFill>
                  <a:srgbClr val="163448"/>
                </a:solidFill>
                <a:latin typeface="Arial"/>
                <a:ea typeface="Arial"/>
                <a:cs typeface="Arial"/>
              </a:rPr>
              <a:t>TF-IDF erzielt 91,33 % Accuracy für diese Autorenauswahl.</a:t>
            </a:r>
          </a:p>
        </p:txBody>
      </p:sp>
      <p:sp>
        <p:nvSpPr>
          <p:cNvPr id="4" name="">
            <a:extLst xmlns:a="http://schemas.openxmlformats.org/drawingml/2006/main">
              <a:ext uri="{FF2B5EF4-FFF2-40B4-BE49-F238E27FC236}">
                <a16:creationId xmlns:a16="http://schemas.microsoft.com/office/drawing/2014/main" id="{C9F0159C-BB0B-4003-B29A-C12DE6DDA1F2}"/>
              </a:ext>
            </a:extLst>
          </p:cNvPr>
          <p:cNvSpPr>
            <a:spLocks xmlns:a="http://schemas.openxmlformats.org/drawingml/2006/main" noGrp="1"/>
          </p:cNvSpPr>
          <p:nvPr/>
        </p:nvSpPr>
        <p:spPr>
          <a:xfrm xmlns:a="http://schemas.openxmlformats.org/drawingml/2006/main">
            <a:off x="714375" y="26765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448"/>
                </a:solidFill>
                <a:latin typeface="Arial"/>
                <a:ea typeface="Arial"/>
                <a:cs typeface="Arial"/>
              </a:defRPr>
            </a:pPr>
            <a:r>
              <a:rPr sz="2175" b="0">
                <a:solidFill>
                  <a:srgbClr val="163448"/>
                </a:solidFill>
                <a:latin typeface="Arial"/>
                <a:ea typeface="Arial"/>
                <a:cs typeface="Arial"/>
              </a:rPr>
              <a:t>Stil-Autorenzentren erreichen 82,67 %. Themen bleiben unkontrolliert.</a:t>
            </a:r>
          </a:p>
        </p:txBody>
      </p:sp>
      <p:sp>
        <p:nvSpPr>
          <p:cNvPr id="5" name="">
            <a:extLst xmlns:a="http://schemas.openxmlformats.org/drawingml/2006/main">
              <a:ext uri="{FF2B5EF4-FFF2-40B4-BE49-F238E27FC236}">
                <a16:creationId xmlns:a16="http://schemas.microsoft.com/office/drawing/2014/main" id="{126B5874-0EB9-47DE-AA12-DB2C71F5581C}"/>
              </a:ext>
            </a:extLst>
          </p:cNvPr>
          <p:cNvSpPr>
            <a:spLocks xmlns:a="http://schemas.openxmlformats.org/drawingml/2006/main" noGrp="1"/>
          </p:cNvSpPr>
          <p:nvPr/>
        </p:nvSpPr>
        <p:spPr>
          <a:xfrm xmlns:a="http://schemas.openxmlformats.org/drawingml/2006/main">
            <a:off x="714375" y="37052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448"/>
                </a:solidFill>
                <a:latin typeface="Arial"/>
                <a:ea typeface="Arial"/>
                <a:cs typeface="Arial"/>
              </a:defRPr>
            </a:pPr>
            <a:r>
              <a:rPr sz="2175" b="0">
                <a:solidFill>
                  <a:srgbClr val="163448"/>
                </a:solidFill>
                <a:latin typeface="Arial"/>
                <a:ea typeface="Arial"/>
                <a:cs typeface="Arial"/>
              </a:rPr>
              <a:t>Kai S. Kurono: Wortrepräsentationen und Exploration</a:t>
            </a:r>
          </a:p>
        </p:txBody>
      </p:sp>
      <p:sp>
        <p:nvSpPr>
          <p:cNvPr id="6" name="">
            <a:extLst xmlns:a="http://schemas.openxmlformats.org/drawingml/2006/main">
              <a:ext uri="{FF2B5EF4-FFF2-40B4-BE49-F238E27FC236}">
                <a16:creationId xmlns:a16="http://schemas.microsoft.com/office/drawing/2014/main" id="{134C638D-4B54-40FF-8346-B24F62FE6E74}"/>
              </a:ext>
            </a:extLst>
          </p:cNvPr>
          <p:cNvSpPr>
            <a:spLocks xmlns:a="http://schemas.openxmlformats.org/drawingml/2006/main" noGrp="1"/>
          </p:cNvSpPr>
          <p:nvPr/>
        </p:nvSpPr>
        <p:spPr>
          <a:xfrm xmlns:a="http://schemas.openxmlformats.org/drawingml/2006/main">
            <a:off x="714375" y="47339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448"/>
                </a:solidFill>
                <a:latin typeface="Arial"/>
                <a:ea typeface="Arial"/>
                <a:cs typeface="Arial"/>
              </a:defRPr>
            </a:pPr>
            <a:r>
              <a:rPr sz="2175" b="0">
                <a:solidFill>
                  <a:srgbClr val="163448"/>
                </a:solidFill>
                <a:latin typeface="Arial"/>
                <a:ea typeface="Arial"/>
                <a:cs typeface="Arial"/>
              </a:rPr>
              <a:t>Jonaid Aydi: Stilmerkmale, Testauswertung und Reproduktion</a:t>
            </a:r>
          </a:p>
        </p:txBody>
      </p:sp>
      <p:sp>
        <p:nvSpPr>
          <p:cNvPr id="7" name="">
            <a:extLst xmlns:a="http://schemas.openxmlformats.org/drawingml/2006/main">
              <a:ext uri="{FF2B5EF4-FFF2-40B4-BE49-F238E27FC236}">
                <a16:creationId xmlns:a16="http://schemas.microsoft.com/office/drawing/2014/main" id="{56B229DF-D8AB-41BF-A323-08D84F4975D7}"/>
              </a:ext>
            </a:extLst>
          </p:cNvPr>
          <p:cNvSpPr>
            <a:spLocks xmlns:a="http://schemas.openxmlformats.org/drawingml/2006/main" noGrp="1"/>
          </p:cNvSpPr>
          <p:nvPr/>
        </p:nvSpPr>
        <p:spPr>
          <a:xfrm xmlns:a="http://schemas.openxmlformats.org/drawingml/2006/main">
            <a:off x="714375" y="59150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7C9C"/>
                </a:solidFill>
                <a:latin typeface="Arial"/>
                <a:ea typeface="Arial"/>
                <a:cs typeface="Arial"/>
              </a:defRPr>
            </a:pPr>
            <a:r>
              <a:rPr sz="1875" b="1">
                <a:solidFill>
                  <a:srgbClr val="247C9C"/>
                </a:solidFill>
                <a:latin typeface="Arial"/>
                <a:ea typeface="Arial"/>
                <a:cs typeface="Arial"/>
              </a:rPr>
              <a:t>Diskussion: Welche zusätzliche Prüfung würde Themen und Stil besser trennen?</a:t>
            </a:r>
          </a:p>
        </p:txBody>
      </p:sp>
    </p:spTree>
    <p:extLst>
      <p:ext uri="{BB962C8B-B14F-4D97-AF65-F5344CB8AC3E}">
        <p14:creationId xmlns:p14="http://schemas.microsoft.com/office/powerpoint/2010/main" val="9317240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077836-ED14-4673-A65C-50BEF0BA73BA}"/>
              </a:ext>
            </a:extLst>
          </p:cNvPr>
          <p:cNvSpPr>
            <a:spLocks xmlns:a="http://schemas.openxmlformats.org/drawingml/2006/main" noGrp="1"/>
          </p:cNvSpPr>
          <p:nvPr/>
        </p:nvSpPr>
        <p:spPr>
          <a:xfrm xmlns:a="http://schemas.openxmlformats.org/drawingml/2006/main">
            <a:off x="619125"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448"/>
                </a:solidFill>
                <a:latin typeface="Arial"/>
                <a:ea typeface="Arial"/>
                <a:cs typeface="Arial"/>
              </a:defRPr>
            </a:pPr>
            <a:r>
              <a:rPr sz="3450" b="1">
                <a:solidFill>
                  <a:srgbClr val="163448"/>
                </a:solidFill>
                <a:latin typeface="Arial"/>
                <a:ea typeface="Arial"/>
                <a:cs typeface="Arial"/>
              </a:rPr>
              <a:t>Quellen und weitere Details</a:t>
            </a:r>
          </a:p>
        </p:txBody>
      </p:sp>
      <p:sp>
        <p:nvSpPr>
          <p:cNvPr id="2" name="">
            <a:extLst xmlns:a="http://schemas.openxmlformats.org/drawingml/2006/main">
              <a:ext uri="{FF2B5EF4-FFF2-40B4-BE49-F238E27FC236}">
                <a16:creationId xmlns:a16="http://schemas.microsoft.com/office/drawing/2014/main" id="{EC82CE67-1028-4352-9B15-D3317CE75DB6}"/>
              </a:ext>
            </a:extLst>
          </p:cNvPr>
          <p:cNvSpPr>
            <a:spLocks xmlns:a="http://schemas.openxmlformats.org/drawingml/2006/main" noGrp="1"/>
          </p:cNvSpPr>
          <p:nvPr/>
        </p:nvSpPr>
        <p:spPr>
          <a:xfrm xmlns:a="http://schemas.openxmlformats.org/drawingml/2006/main">
            <a:off x="11334750" y="63436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79C888FB-2F92-4CBC-9B9A-2937F043E7ED}"/>
              </a:ext>
            </a:extLst>
          </p:cNvPr>
          <p:cNvSpPr>
            <a:spLocks xmlns:a="http://schemas.openxmlformats.org/drawingml/2006/main" noGrp="1"/>
          </p:cNvSpPr>
          <p:nvPr/>
        </p:nvSpPr>
        <p:spPr>
          <a:xfrm xmlns:a="http://schemas.openxmlformats.org/drawingml/2006/main">
            <a:off x="714375" y="17145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448"/>
                </a:solidFill>
                <a:latin typeface="Arial"/>
                <a:ea typeface="Arial"/>
                <a:cs typeface="Arial"/>
              </a:defRPr>
            </a:pPr>
            <a:r>
              <a:rPr sz="2175" b="0">
                <a:solidFill>
                  <a:srgbClr val="163448"/>
                </a:solidFill>
                <a:latin typeface="Arial"/>
                <a:ea typeface="Arial"/>
                <a:cs typeface="Arial"/>
              </a:rPr>
              <a:t>Liu (2006): Reuter_50_50. DOI 10.24432/C5DS42</a:t>
            </a:r>
          </a:p>
        </p:txBody>
      </p:sp>
      <p:sp>
        <p:nvSpPr>
          <p:cNvPr id="4" name="">
            <a:extLst xmlns:a="http://schemas.openxmlformats.org/drawingml/2006/main">
              <a:ext uri="{FF2B5EF4-FFF2-40B4-BE49-F238E27FC236}">
                <a16:creationId xmlns:a16="http://schemas.microsoft.com/office/drawing/2014/main" id="{1C07A3C9-7CF7-42FA-A167-CE755AB51B2C}"/>
              </a:ext>
            </a:extLst>
          </p:cNvPr>
          <p:cNvSpPr>
            <a:spLocks xmlns:a="http://schemas.openxmlformats.org/drawingml/2006/main" noGrp="1"/>
          </p:cNvSpPr>
          <p:nvPr/>
        </p:nvSpPr>
        <p:spPr>
          <a:xfrm xmlns:a="http://schemas.openxmlformats.org/drawingml/2006/main">
            <a:off x="714375" y="27622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448"/>
                </a:solidFill>
                <a:latin typeface="Arial"/>
                <a:ea typeface="Arial"/>
                <a:cs typeface="Arial"/>
              </a:defRPr>
            </a:pPr>
            <a:r>
              <a:rPr sz="2175" b="0">
                <a:solidFill>
                  <a:srgbClr val="163448"/>
                </a:solidFill>
                <a:latin typeface="Arial"/>
                <a:ea typeface="Arial"/>
                <a:cs typeface="Arial"/>
              </a:rPr>
              <a:t>NLTK Snowball, spaCy, scikit-learn und SciPy: offizielle Dokumentation</a:t>
            </a:r>
          </a:p>
        </p:txBody>
      </p:sp>
      <p:sp>
        <p:nvSpPr>
          <p:cNvPr id="5" name="">
            <a:extLst xmlns:a="http://schemas.openxmlformats.org/drawingml/2006/main">
              <a:ext uri="{FF2B5EF4-FFF2-40B4-BE49-F238E27FC236}">
                <a16:creationId xmlns:a16="http://schemas.microsoft.com/office/drawing/2014/main" id="{142347F2-9BDE-4669-AC68-F841444A1117}"/>
              </a:ext>
            </a:extLst>
          </p:cNvPr>
          <p:cNvSpPr>
            <a:spLocks xmlns:a="http://schemas.openxmlformats.org/drawingml/2006/main" noGrp="1"/>
          </p:cNvSpPr>
          <p:nvPr/>
        </p:nvSpPr>
        <p:spPr>
          <a:xfrm xmlns:a="http://schemas.openxmlformats.org/drawingml/2006/main">
            <a:off x="714375" y="38100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448"/>
                </a:solidFill>
                <a:latin typeface="Arial"/>
                <a:ea typeface="Arial"/>
                <a:cs typeface="Arial"/>
              </a:defRPr>
            </a:pPr>
            <a:r>
              <a:rPr sz="2175" b="0">
                <a:solidFill>
                  <a:srgbClr val="163448"/>
                </a:solidFill>
                <a:latin typeface="Arial"/>
                <a:ea typeface="Arial"/>
                <a:cs typeface="Arial"/>
              </a:rPr>
              <a:t>Projekt: github.com/jonaidaydi/authorship-stylometry</a:t>
            </a:r>
          </a:p>
        </p:txBody>
      </p:sp>
      <p:sp>
        <p:nvSpPr>
          <p:cNvPr id="6" name="">
            <a:extLst xmlns:a="http://schemas.openxmlformats.org/drawingml/2006/main">
              <a:ext uri="{FF2B5EF4-FFF2-40B4-BE49-F238E27FC236}">
                <a16:creationId xmlns:a16="http://schemas.microsoft.com/office/drawing/2014/main" id="{7C3197B3-9D4D-4B6C-BCB1-6C0F5D183E3D}"/>
              </a:ext>
            </a:extLst>
          </p:cNvPr>
          <p:cNvSpPr>
            <a:spLocks xmlns:a="http://schemas.openxmlformats.org/drawingml/2006/main" noGrp="1"/>
          </p:cNvSpPr>
          <p:nvPr/>
        </p:nvSpPr>
        <p:spPr>
          <a:xfrm xmlns:a="http://schemas.openxmlformats.org/drawingml/2006/main">
            <a:off x="714375" y="4857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448"/>
                </a:solidFill>
                <a:latin typeface="Arial"/>
                <a:ea typeface="Arial"/>
                <a:cs typeface="Arial"/>
              </a:defRPr>
            </a:pPr>
            <a:r>
              <a:rPr sz="2175" b="0">
                <a:solidFill>
                  <a:srgbClr val="163448"/>
                </a:solidFill>
                <a:latin typeface="Arial"/>
                <a:ea typeface="Arial"/>
                <a:cs typeface="Arial"/>
              </a:rPr>
              <a:t>Details: gemeinsamer Bericht und results/ im Repository</a:t>
            </a:r>
          </a:p>
        </p:txBody>
      </p:sp>
    </p:spTree>
    <p:extLst>
      <p:ext uri="{BB962C8B-B14F-4D97-AF65-F5344CB8AC3E}">
        <p14:creationId xmlns:p14="http://schemas.microsoft.com/office/powerpoint/2010/main" val="1330035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2026-10-06T02:46:57.5530000Z</dcterms:created>
  <dcterms:modified xsi:type="dcterms:W3CDTF">2026-10-06T02:46:57.5530000Z</dcterms:modified>
</coreProperties>
</file>